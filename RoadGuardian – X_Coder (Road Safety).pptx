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name X_Coder and the theme Road Safety. RoadGuardian helps people report road hazards, see them on a map and compare routes using reported hazards.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people report hazards with a photo, an AI model suggests what it sees, the community verifies, and the map and route comparison use the verified reports. Results reflect reported data only; they do not guarantee a safe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Layered architecture: React frontend talks to a FastAPI backend, which stores data in SQLite, runs the YOLO model for image detection and calls a routing provider. No special hardware is needed. The AI model weights are downloaded separately and are not bundled.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the image is validated and re-encoded, the YOLO model suggests hazards, the user reviews and can override, the report is stored with history, and the community can confirm or flag it. Route comparison scores reported hazards near each candidate route using severity, recency, verification and proximity. If no model is installed the app says so and offers manual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limits: reports are user-supplied, so unreported hazards are invisible; severity is self-reported; the risk weights are judgement-based defaults. The admin area uses a shared token and is a local demo, not production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specific organization and local figures from your problem statement here, for example the city or ward you would pilot in. No impact numbers are claimed because none have been measured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142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F2F6F4"/>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F2F6F4"/>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142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F2F6F4"/>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F2F6F4"/>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24"/>
        </a:solidFill>
      </p:bgPr>
    </p:bg>
    <p:spTree>
      <p:nvGrpSpPr>
        <p:cNvPr id="1" name=""/>
        <p:cNvGrpSpPr/>
        <p:nvPr/>
      </p:nvGrpSpPr>
      <p:grpSpPr>
        <a:xfrm>
          <a:off x="0" y="0"/>
          <a:ext cx="0" cy="0"/>
          <a:chOff x="0" y="0"/>
          <a:chExt cx="0" cy="0"/>
        </a:xfrm>
      </p:grpSpPr>
      <p:pic>
        <p:nvPicPr>
          <p:cNvPr id="2" name="Image 0" descr="A curved road with a teal route line, two warning markers and a location pin ring marking reported hazards">    </p:cNvPr>
          <p:cNvPicPr>
            <a:picLocks noChangeAspect="1"/>
          </p:cNvPicPr>
          <p:nvPr/>
        </p:nvPicPr>
        <p:blipFill>
          <a:blip r:embed="rId1"/>
          <a:srcRect l="0" r="0" t="0" b="0"/>
          <a:stretch/>
        </p:blipFill>
        <p:spPr>
          <a:xfrm>
            <a:off x="7823200" y="1473200"/>
            <a:ext cx="3556000" cy="3556000"/>
          </a:xfrm>
          <a:prstGeom prst="rect">
            <a:avLst/>
          </a:prstGeom>
        </p:spPr>
      </p:pic>
      <p:sp>
        <p:nvSpPr>
          <p:cNvPr id="3" name="Text 0"/>
          <p:cNvSpPr/>
          <p:nvPr/>
        </p:nvSpPr>
        <p:spPr>
          <a:xfrm>
            <a:off x="812800" y="2016760"/>
            <a:ext cx="3044666"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2DD4BF"/>
                </a:solidFill>
                <a:latin typeface="Arial" pitchFamily="34" charset="0"/>
                <a:ea typeface="Arial" pitchFamily="34" charset="-122"/>
                <a:cs typeface="Arial" pitchFamily="34" charset="-120"/>
              </a:rPr>
              <a:t>THEME · ROAD SAFETY</a:t>
            </a:r>
            <a:endParaRPr lang="en-US" sz="1400" dirty="0"/>
          </a:p>
        </p:txBody>
      </p:sp>
      <p:sp>
        <p:nvSpPr>
          <p:cNvPr id="4" name="Text 1"/>
          <p:cNvSpPr/>
          <p:nvPr>
            <p:ph type="title"/>
          </p:nvPr>
        </p:nvSpPr>
        <p:spPr>
          <a:xfrm>
            <a:off x="812800" y="2443480"/>
            <a:ext cx="7010400" cy="985520"/>
          </a:xfrm>
          <a:prstGeom prst="rect">
            <a:avLst/>
          </a:prstGeom>
          <a:noFill/>
          <a:ln/>
        </p:spPr>
        <p:txBody>
          <a:bodyPr wrap="square" lIns="0" tIns="0" rIns="0" bIns="0" rtlCol="0" anchor="t">
            <a:normAutofit/>
          </a:bodyPr>
          <a:lstStyle/>
          <a:p>
            <a:pPr algn="l" indent="0" marL="0">
              <a:lnSpc>
                <a:spcPts val="7560"/>
              </a:lnSpc>
              <a:buNone/>
            </a:pPr>
            <a:r>
              <a:rPr lang="en-US" sz="7200" b="1" i="0" dirty="0">
                <a:solidFill>
                  <a:srgbClr val="F2F6F4"/>
                </a:solidFill>
                <a:latin typeface="Arial" pitchFamily="34" charset="0"/>
                <a:ea typeface="Arial" pitchFamily="34" charset="-122"/>
                <a:cs typeface="Arial" pitchFamily="34" charset="-120"/>
              </a:rPr>
              <a:t>RoadGuardian</a:t>
            </a:r>
            <a:endParaRPr lang="en-US" sz="7200" dirty="0"/>
          </a:p>
        </p:txBody>
      </p:sp>
      <p:sp>
        <p:nvSpPr>
          <p:cNvPr id="5" name="Text 2"/>
          <p:cNvSpPr/>
          <p:nvPr/>
        </p:nvSpPr>
        <p:spPr>
          <a:xfrm>
            <a:off x="812800" y="3581400"/>
            <a:ext cx="530628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B8C7DC"/>
                </a:solidFill>
                <a:latin typeface="Arial" pitchFamily="34" charset="0"/>
                <a:ea typeface="Arial" pitchFamily="34" charset="-122"/>
                <a:cs typeface="Arial" pitchFamily="34" charset="-120"/>
              </a:rPr>
              <a:t>AI-powered road risk intelligence</a:t>
            </a:r>
            <a:endParaRPr lang="en-US" sz="2400" dirty="0"/>
          </a:p>
        </p:txBody>
      </p:sp>
      <p:sp>
        <p:nvSpPr>
          <p:cNvPr id="6" name="Text 3"/>
          <p:cNvSpPr/>
          <p:nvPr/>
        </p:nvSpPr>
        <p:spPr>
          <a:xfrm>
            <a:off x="812800" y="4140200"/>
            <a:ext cx="2041049" cy="497840"/>
          </a:xfrm>
          <a:prstGeom prst="roundRect">
            <a:avLst>
              <a:gd name="adj" fmla="val 50000"/>
            </a:avLst>
          </a:prstGeom>
          <a:solidFill>
            <a:srgbClr val="2DD4BF"/>
          </a:solidFill>
          <a:ln/>
        </p:spPr>
        <p:txBody>
          <a:bodyPr wrap="none" lIns="0" tIns="0" rIns="0" bIns="0" rtlCol="0" anchor="ctr">
            <a:normAutofit/>
          </a:bodyPr>
          <a:lstStyle/>
          <a:p>
            <a:pPr algn="ctr" indent="0" marL="0">
              <a:lnSpc>
                <a:spcPts val="2520"/>
              </a:lnSpc>
              <a:buNone/>
            </a:pPr>
            <a:r>
              <a:rPr lang="en-US" sz="1800" b="1" dirty="0">
                <a:solidFill>
                  <a:srgbClr val="0B1424"/>
                </a:solidFill>
                <a:latin typeface="Arial" pitchFamily="34" charset="0"/>
                <a:ea typeface="Arial" pitchFamily="34" charset="-122"/>
                <a:cs typeface="Arial" pitchFamily="34" charset="-120"/>
              </a:rPr>
              <a:t>Team X_Coder</a:t>
            </a:r>
            <a:endParaRPr lang="en-US" sz="1800" dirty="0"/>
          </a:p>
        </p:txBody>
      </p:sp>
      <p:sp>
        <p:nvSpPr>
          <p:cNvPr id="7" name="Text 4"/>
          <p:cNvSpPr/>
          <p:nvPr/>
        </p:nvSpPr>
        <p:spPr>
          <a:xfrm>
            <a:off x="812800" y="623824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7DC"/>
                </a:solidFill>
                <a:latin typeface="Arial" pitchFamily="34" charset="0"/>
                <a:ea typeface="Arial" pitchFamily="34" charset="-122"/>
                <a:cs typeface="Arial" pitchFamily="34" charset="-120"/>
              </a:rPr>
              <a:t>Hackathon submission · Road Safety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Arial" pitchFamily="34" charset="0"/>
                <a:ea typeface="Arial" pitchFamily="34" charset="-122"/>
                <a:cs typeface="Arial" pitchFamily="34" charset="-120"/>
              </a:rPr>
              <a:t>PROPOSED SOLUTION</a:t>
            </a:r>
            <a:endParaRPr lang="en-US" sz="1200" dirty="0"/>
          </a:p>
        </p:txBody>
      </p:sp>
      <p:sp>
        <p:nvSpPr>
          <p:cNvPr id="3" name="Text 1"/>
          <p:cNvSpPr/>
          <p:nvPr>
            <p:ph type="title"/>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1424"/>
                </a:solidFill>
                <a:latin typeface="Arial" pitchFamily="34" charset="0"/>
                <a:ea typeface="Arial" pitchFamily="34" charset="-122"/>
                <a:cs typeface="Arial" pitchFamily="34" charset="-120"/>
              </a:rPr>
              <a:t>From a road photo to a smarter route choice</a:t>
            </a:r>
            <a:endParaRPr lang="en-US" sz="3200" dirty="0"/>
          </a:p>
        </p:txBody>
      </p:sp>
      <p:sp>
        <p:nvSpPr>
          <p:cNvPr id="4" name="Shape 2"/>
          <p:cNvSpPr/>
          <p:nvPr/>
        </p:nvSpPr>
        <p:spPr>
          <a:xfrm>
            <a:off x="815975" y="1943418"/>
            <a:ext cx="2178050" cy="1419860"/>
          </a:xfrm>
          <a:prstGeom prst="roundRect">
            <a:avLst>
              <a:gd name="adj" fmla="val 8721"/>
            </a:avLst>
          </a:prstGeom>
          <a:solidFill>
            <a:srgbClr val="FBFCFB"/>
          </a:solidFill>
          <a:ln w="6350">
            <a:solidFill>
              <a:srgbClr val="D5E0DC"/>
            </a:solidFill>
            <a:prstDash val="solid"/>
          </a:ln>
        </p:spPr>
      </p:sp>
      <p:sp>
        <p:nvSpPr>
          <p:cNvPr id="5" name="Text 3"/>
          <p:cNvSpPr/>
          <p:nvPr/>
        </p:nvSpPr>
        <p:spPr>
          <a:xfrm>
            <a:off x="995680" y="2123122"/>
            <a:ext cx="187319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Arial" pitchFamily="34" charset="0"/>
                <a:ea typeface="Arial" pitchFamily="34" charset="-122"/>
                <a:cs typeface="Arial" pitchFamily="34" charset="-120"/>
              </a:rPr>
              <a:t>01</a:t>
            </a:r>
            <a:endParaRPr lang="en-US" sz="1200" dirty="0"/>
          </a:p>
        </p:txBody>
      </p:sp>
      <p:sp>
        <p:nvSpPr>
          <p:cNvPr id="6" name="Text 4"/>
          <p:cNvSpPr/>
          <p:nvPr/>
        </p:nvSpPr>
        <p:spPr>
          <a:xfrm>
            <a:off x="995680" y="2399983"/>
            <a:ext cx="187319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424"/>
                </a:solidFill>
                <a:latin typeface="Arial" pitchFamily="34" charset="0"/>
                <a:ea typeface="Arial" pitchFamily="34" charset="-122"/>
                <a:cs typeface="Arial" pitchFamily="34" charset="-120"/>
              </a:rPr>
              <a:t>Report</a:t>
            </a:r>
            <a:endParaRPr lang="en-US" sz="1800" dirty="0"/>
          </a:p>
        </p:txBody>
      </p:sp>
      <p:sp>
        <p:nvSpPr>
          <p:cNvPr id="7" name="Text 5"/>
          <p:cNvSpPr/>
          <p:nvPr/>
        </p:nvSpPr>
        <p:spPr>
          <a:xfrm>
            <a:off x="995680" y="2737803"/>
            <a:ext cx="1873199"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6566A"/>
                </a:solidFill>
                <a:latin typeface="Arial" pitchFamily="34" charset="0"/>
                <a:ea typeface="Arial" pitchFamily="34" charset="-122"/>
                <a:cs typeface="Arial" pitchFamily="34" charset="-120"/>
              </a:rPr>
              <a:t>Upload a road photo, pin the location, add details</a:t>
            </a:r>
            <a:endParaRPr lang="en-US" sz="1300" dirty="0"/>
          </a:p>
        </p:txBody>
      </p:sp>
      <p:pic>
        <p:nvPicPr>
          <p:cNvPr id="8" name="Image 0" descr="arrow-right">    </p:cNvPr>
          <p:cNvPicPr>
            <a:picLocks noChangeAspect="1"/>
          </p:cNvPicPr>
          <p:nvPr/>
        </p:nvPicPr>
        <p:blipFill>
          <a:blip r:embed="rId1"/>
          <a:srcRect l="0" r="0" t="0" b="0"/>
          <a:stretch/>
        </p:blipFill>
        <p:spPr>
          <a:xfrm>
            <a:off x="3124200" y="2564447"/>
            <a:ext cx="355600" cy="177800"/>
          </a:xfrm>
          <a:prstGeom prst="rect">
            <a:avLst/>
          </a:prstGeom>
        </p:spPr>
      </p:pic>
      <p:sp>
        <p:nvSpPr>
          <p:cNvPr id="9" name="Shape 6"/>
          <p:cNvSpPr/>
          <p:nvPr/>
        </p:nvSpPr>
        <p:spPr>
          <a:xfrm>
            <a:off x="3609975" y="1831975"/>
            <a:ext cx="2178050" cy="1642745"/>
          </a:xfrm>
          <a:prstGeom prst="roundRect">
            <a:avLst>
              <a:gd name="adj" fmla="val 7538"/>
            </a:avLst>
          </a:prstGeom>
          <a:solidFill>
            <a:srgbClr val="FBFCFB"/>
          </a:solidFill>
          <a:ln w="6350">
            <a:solidFill>
              <a:srgbClr val="D5E0DC"/>
            </a:solidFill>
            <a:prstDash val="solid"/>
          </a:ln>
        </p:spPr>
      </p:sp>
      <p:sp>
        <p:nvSpPr>
          <p:cNvPr id="10" name="Text 7"/>
          <p:cNvSpPr/>
          <p:nvPr/>
        </p:nvSpPr>
        <p:spPr>
          <a:xfrm>
            <a:off x="3789680" y="2011680"/>
            <a:ext cx="187319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Arial" pitchFamily="34" charset="0"/>
                <a:ea typeface="Arial" pitchFamily="34" charset="-122"/>
                <a:cs typeface="Arial" pitchFamily="34" charset="-120"/>
              </a:rPr>
              <a:t>02</a:t>
            </a:r>
            <a:endParaRPr lang="en-US" sz="1200" dirty="0"/>
          </a:p>
        </p:txBody>
      </p:sp>
      <p:sp>
        <p:nvSpPr>
          <p:cNvPr id="11" name="Text 8"/>
          <p:cNvSpPr/>
          <p:nvPr/>
        </p:nvSpPr>
        <p:spPr>
          <a:xfrm>
            <a:off x="3789680" y="2288540"/>
            <a:ext cx="187319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424"/>
                </a:solidFill>
                <a:latin typeface="Arial" pitchFamily="34" charset="0"/>
                <a:ea typeface="Arial" pitchFamily="34" charset="-122"/>
                <a:cs typeface="Arial" pitchFamily="34" charset="-120"/>
              </a:rPr>
              <a:t>Detect</a:t>
            </a:r>
            <a:endParaRPr lang="en-US" sz="1800" dirty="0"/>
          </a:p>
        </p:txBody>
      </p:sp>
      <p:sp>
        <p:nvSpPr>
          <p:cNvPr id="12" name="Text 9"/>
          <p:cNvSpPr/>
          <p:nvPr/>
        </p:nvSpPr>
        <p:spPr>
          <a:xfrm>
            <a:off x="3789680" y="2626360"/>
            <a:ext cx="1873199"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6566A"/>
                </a:solidFill>
                <a:latin typeface="Arial" pitchFamily="34" charset="0"/>
                <a:ea typeface="Arial" pitchFamily="34" charset="-122"/>
                <a:cs typeface="Arial" pitchFamily="34" charset="-120"/>
              </a:rPr>
              <a:t>A YOLO model flags cracks and potholes with confidence scores</a:t>
            </a:r>
            <a:endParaRPr lang="en-US" sz="1300" dirty="0"/>
          </a:p>
        </p:txBody>
      </p:sp>
      <p:pic>
        <p:nvPicPr>
          <p:cNvPr id="13" name="Image 1" descr="arrow-right">    </p:cNvPr>
          <p:cNvPicPr>
            <a:picLocks noChangeAspect="1"/>
          </p:cNvPicPr>
          <p:nvPr/>
        </p:nvPicPr>
        <p:blipFill>
          <a:blip r:embed="rId2"/>
          <a:srcRect l="0" r="0" t="0" b="0"/>
          <a:stretch/>
        </p:blipFill>
        <p:spPr>
          <a:xfrm>
            <a:off x="5918200" y="2564447"/>
            <a:ext cx="355600" cy="177800"/>
          </a:xfrm>
          <a:prstGeom prst="rect">
            <a:avLst/>
          </a:prstGeom>
        </p:spPr>
      </p:pic>
      <p:sp>
        <p:nvSpPr>
          <p:cNvPr id="14" name="Shape 10"/>
          <p:cNvSpPr/>
          <p:nvPr/>
        </p:nvSpPr>
        <p:spPr>
          <a:xfrm>
            <a:off x="6403975" y="1831975"/>
            <a:ext cx="2178050" cy="1642745"/>
          </a:xfrm>
          <a:prstGeom prst="roundRect">
            <a:avLst>
              <a:gd name="adj" fmla="val 7538"/>
            </a:avLst>
          </a:prstGeom>
          <a:solidFill>
            <a:srgbClr val="FBFCFB"/>
          </a:solidFill>
          <a:ln w="6350">
            <a:solidFill>
              <a:srgbClr val="D5E0DC"/>
            </a:solidFill>
            <a:prstDash val="solid"/>
          </a:ln>
        </p:spPr>
      </p:sp>
      <p:sp>
        <p:nvSpPr>
          <p:cNvPr id="15" name="Text 11"/>
          <p:cNvSpPr/>
          <p:nvPr/>
        </p:nvSpPr>
        <p:spPr>
          <a:xfrm>
            <a:off x="6583680" y="2011680"/>
            <a:ext cx="187319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Arial" pitchFamily="34" charset="0"/>
                <a:ea typeface="Arial" pitchFamily="34" charset="-122"/>
                <a:cs typeface="Arial" pitchFamily="34" charset="-120"/>
              </a:rPr>
              <a:t>03</a:t>
            </a:r>
            <a:endParaRPr lang="en-US" sz="1200" dirty="0"/>
          </a:p>
        </p:txBody>
      </p:sp>
      <p:sp>
        <p:nvSpPr>
          <p:cNvPr id="16" name="Text 12"/>
          <p:cNvSpPr/>
          <p:nvPr/>
        </p:nvSpPr>
        <p:spPr>
          <a:xfrm>
            <a:off x="6583680" y="2288540"/>
            <a:ext cx="187319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424"/>
                </a:solidFill>
                <a:latin typeface="Arial" pitchFamily="34" charset="0"/>
                <a:ea typeface="Arial" pitchFamily="34" charset="-122"/>
                <a:cs typeface="Arial" pitchFamily="34" charset="-120"/>
              </a:rPr>
              <a:t>Verify</a:t>
            </a:r>
            <a:endParaRPr lang="en-US" sz="1800" dirty="0"/>
          </a:p>
        </p:txBody>
      </p:sp>
      <p:sp>
        <p:nvSpPr>
          <p:cNvPr id="17" name="Text 13"/>
          <p:cNvSpPr/>
          <p:nvPr/>
        </p:nvSpPr>
        <p:spPr>
          <a:xfrm>
            <a:off x="6583680" y="2626360"/>
            <a:ext cx="1873199"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6566A"/>
                </a:solidFill>
                <a:latin typeface="Arial" pitchFamily="34" charset="0"/>
                <a:ea typeface="Arial" pitchFamily="34" charset="-122"/>
                <a:cs typeface="Arial" pitchFamily="34" charset="-120"/>
              </a:rPr>
              <a:t>Community confirms or flags it; authorities review</a:t>
            </a:r>
            <a:endParaRPr lang="en-US" sz="1300" dirty="0"/>
          </a:p>
        </p:txBody>
      </p:sp>
      <p:pic>
        <p:nvPicPr>
          <p:cNvPr id="18" name="Image 2" descr="arrow-right">    </p:cNvPr>
          <p:cNvPicPr>
            <a:picLocks noChangeAspect="1"/>
          </p:cNvPicPr>
          <p:nvPr/>
        </p:nvPicPr>
        <p:blipFill>
          <a:blip r:embed="rId3"/>
          <a:srcRect l="0" r="0" t="0" b="0"/>
          <a:stretch/>
        </p:blipFill>
        <p:spPr>
          <a:xfrm>
            <a:off x="8712200" y="2564447"/>
            <a:ext cx="355600" cy="177800"/>
          </a:xfrm>
          <a:prstGeom prst="rect">
            <a:avLst/>
          </a:prstGeom>
        </p:spPr>
      </p:pic>
      <p:sp>
        <p:nvSpPr>
          <p:cNvPr id="19" name="Shape 14"/>
          <p:cNvSpPr/>
          <p:nvPr/>
        </p:nvSpPr>
        <p:spPr>
          <a:xfrm>
            <a:off x="9197975" y="1831975"/>
            <a:ext cx="2178050" cy="1642745"/>
          </a:xfrm>
          <a:prstGeom prst="roundRect">
            <a:avLst>
              <a:gd name="adj" fmla="val 7538"/>
            </a:avLst>
          </a:prstGeom>
          <a:solidFill>
            <a:srgbClr val="FBFCFB"/>
          </a:solidFill>
          <a:ln w="6350">
            <a:solidFill>
              <a:srgbClr val="D5E0DC"/>
            </a:solidFill>
            <a:prstDash val="solid"/>
          </a:ln>
        </p:spPr>
      </p:sp>
      <p:sp>
        <p:nvSpPr>
          <p:cNvPr id="20" name="Text 15"/>
          <p:cNvSpPr/>
          <p:nvPr/>
        </p:nvSpPr>
        <p:spPr>
          <a:xfrm>
            <a:off x="9377680" y="2011680"/>
            <a:ext cx="187319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Arial" pitchFamily="34" charset="0"/>
                <a:ea typeface="Arial" pitchFamily="34" charset="-122"/>
                <a:cs typeface="Arial" pitchFamily="34" charset="-120"/>
              </a:rPr>
              <a:t>04</a:t>
            </a:r>
            <a:endParaRPr lang="en-US" sz="1200" dirty="0"/>
          </a:p>
        </p:txBody>
      </p:sp>
      <p:sp>
        <p:nvSpPr>
          <p:cNvPr id="21" name="Text 16"/>
          <p:cNvSpPr/>
          <p:nvPr/>
        </p:nvSpPr>
        <p:spPr>
          <a:xfrm>
            <a:off x="9377680" y="2288540"/>
            <a:ext cx="187319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424"/>
                </a:solidFill>
                <a:latin typeface="Arial" pitchFamily="34" charset="0"/>
                <a:ea typeface="Arial" pitchFamily="34" charset="-122"/>
                <a:cs typeface="Arial" pitchFamily="34" charset="-120"/>
              </a:rPr>
              <a:t>Compare</a:t>
            </a:r>
            <a:endParaRPr lang="en-US" sz="1800" dirty="0"/>
          </a:p>
        </p:txBody>
      </p:sp>
      <p:sp>
        <p:nvSpPr>
          <p:cNvPr id="22" name="Text 17"/>
          <p:cNvSpPr/>
          <p:nvPr/>
        </p:nvSpPr>
        <p:spPr>
          <a:xfrm>
            <a:off x="9377680" y="2626360"/>
            <a:ext cx="1873199"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6566A"/>
                </a:solidFill>
                <a:latin typeface="Arial" pitchFamily="34" charset="0"/>
                <a:ea typeface="Arial" pitchFamily="34" charset="-122"/>
                <a:cs typeface="Arial" pitchFamily="34" charset="-120"/>
              </a:rPr>
              <a:t>Map and route risk score show reported hazards on each path</a:t>
            </a:r>
            <a:endParaRPr lang="en-US" sz="1300" dirty="0"/>
          </a:p>
        </p:txBody>
      </p:sp>
      <p:sp>
        <p:nvSpPr>
          <p:cNvPr id="23" name="Text 18"/>
          <p:cNvSpPr/>
          <p:nvPr/>
        </p:nvSpPr>
        <p:spPr>
          <a:xfrm>
            <a:off x="812800" y="373189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6566A"/>
                </a:solidFill>
                <a:latin typeface="Arial" pitchFamily="34" charset="0"/>
                <a:ea typeface="Arial" pitchFamily="34" charset="-122"/>
                <a:cs typeface="Arial" pitchFamily="34" charset="-120"/>
              </a:rPr>
              <a:t>CORE FEATURES</a:t>
            </a:r>
            <a:endParaRPr lang="en-US" sz="1200" dirty="0"/>
          </a:p>
        </p:txBody>
      </p:sp>
      <p:sp>
        <p:nvSpPr>
          <p:cNvPr id="24" name="Shape 19"/>
          <p:cNvSpPr/>
          <p:nvPr/>
        </p:nvSpPr>
        <p:spPr>
          <a:xfrm>
            <a:off x="812800" y="4046855"/>
            <a:ext cx="2546350" cy="584200"/>
          </a:xfrm>
          <a:prstGeom prst="roundRect">
            <a:avLst>
              <a:gd name="adj" fmla="val 17391"/>
            </a:avLst>
          </a:prstGeom>
          <a:solidFill>
            <a:srgbClr val="0B1424"/>
          </a:solidFill>
          <a:ln/>
        </p:spPr>
      </p:sp>
      <p:pic>
        <p:nvPicPr>
          <p:cNvPr id="25" name="Image 3" descr="Search">    </p:cNvPr>
          <p:cNvPicPr>
            <a:picLocks noChangeAspect="1"/>
          </p:cNvPicPr>
          <p:nvPr/>
        </p:nvPicPr>
        <p:blipFill>
          <a:blip r:embed="rId4"/>
          <a:srcRect l="0" r="0" t="0" b="0"/>
          <a:stretch/>
        </p:blipFill>
        <p:spPr>
          <a:xfrm>
            <a:off x="965200" y="4199255"/>
            <a:ext cx="279400" cy="279400"/>
          </a:xfrm>
          <a:prstGeom prst="rect">
            <a:avLst/>
          </a:prstGeom>
        </p:spPr>
      </p:pic>
      <p:sp>
        <p:nvSpPr>
          <p:cNvPr id="26" name="Text 20"/>
          <p:cNvSpPr/>
          <p:nvPr/>
        </p:nvSpPr>
        <p:spPr>
          <a:xfrm>
            <a:off x="1346200" y="4214495"/>
            <a:ext cx="195672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6F4"/>
                </a:solidFill>
                <a:latin typeface="Arial" pitchFamily="34" charset="0"/>
                <a:ea typeface="Arial" pitchFamily="34" charset="-122"/>
                <a:cs typeface="Arial" pitchFamily="34" charset="-120"/>
              </a:rPr>
              <a:t>AI-assisted reporting</a:t>
            </a:r>
            <a:endParaRPr lang="en-US" sz="1400" dirty="0"/>
          </a:p>
        </p:txBody>
      </p:sp>
      <p:sp>
        <p:nvSpPr>
          <p:cNvPr id="27" name="Shape 21"/>
          <p:cNvSpPr/>
          <p:nvPr/>
        </p:nvSpPr>
        <p:spPr>
          <a:xfrm>
            <a:off x="3486150" y="4046855"/>
            <a:ext cx="2546350" cy="584200"/>
          </a:xfrm>
          <a:prstGeom prst="roundRect">
            <a:avLst>
              <a:gd name="adj" fmla="val 17391"/>
            </a:avLst>
          </a:prstGeom>
          <a:solidFill>
            <a:srgbClr val="0B1424"/>
          </a:solidFill>
          <a:ln/>
        </p:spPr>
      </p:sp>
      <p:pic>
        <p:nvPicPr>
          <p:cNvPr id="28" name="Image 4" descr="Globe">    </p:cNvPr>
          <p:cNvPicPr>
            <a:picLocks noChangeAspect="1"/>
          </p:cNvPicPr>
          <p:nvPr/>
        </p:nvPicPr>
        <p:blipFill>
          <a:blip r:embed="rId5"/>
          <a:srcRect l="0" r="0" t="0" b="0"/>
          <a:stretch/>
        </p:blipFill>
        <p:spPr>
          <a:xfrm>
            <a:off x="3638550" y="4199255"/>
            <a:ext cx="279400" cy="279400"/>
          </a:xfrm>
          <a:prstGeom prst="rect">
            <a:avLst/>
          </a:prstGeom>
        </p:spPr>
      </p:pic>
      <p:sp>
        <p:nvSpPr>
          <p:cNvPr id="29" name="Text 22"/>
          <p:cNvSpPr/>
          <p:nvPr/>
        </p:nvSpPr>
        <p:spPr>
          <a:xfrm>
            <a:off x="4019550" y="4214495"/>
            <a:ext cx="157743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6F4"/>
                </a:solidFill>
                <a:latin typeface="Arial" pitchFamily="34" charset="0"/>
                <a:ea typeface="Arial" pitchFamily="34" charset="-122"/>
                <a:cs typeface="Arial" pitchFamily="34" charset="-120"/>
              </a:rPr>
              <a:t>Live hazard map</a:t>
            </a:r>
            <a:endParaRPr lang="en-US" sz="1400" dirty="0"/>
          </a:p>
        </p:txBody>
      </p:sp>
      <p:sp>
        <p:nvSpPr>
          <p:cNvPr id="30" name="Shape 23"/>
          <p:cNvSpPr/>
          <p:nvPr/>
        </p:nvSpPr>
        <p:spPr>
          <a:xfrm>
            <a:off x="6159500" y="4046855"/>
            <a:ext cx="2546350" cy="584200"/>
          </a:xfrm>
          <a:prstGeom prst="roundRect">
            <a:avLst>
              <a:gd name="adj" fmla="val 17391"/>
            </a:avLst>
          </a:prstGeom>
          <a:solidFill>
            <a:srgbClr val="0B1424"/>
          </a:solidFill>
          <a:ln/>
        </p:spPr>
      </p:sp>
      <p:pic>
        <p:nvPicPr>
          <p:cNvPr id="31" name="Image 5" descr="Activity">    </p:cNvPr>
          <p:cNvPicPr>
            <a:picLocks noChangeAspect="1"/>
          </p:cNvPicPr>
          <p:nvPr/>
        </p:nvPicPr>
        <p:blipFill>
          <a:blip r:embed="rId6"/>
          <a:srcRect l="0" r="0" t="0" b="0"/>
          <a:stretch/>
        </p:blipFill>
        <p:spPr>
          <a:xfrm>
            <a:off x="6311900" y="4199255"/>
            <a:ext cx="279400" cy="279400"/>
          </a:xfrm>
          <a:prstGeom prst="rect">
            <a:avLst/>
          </a:prstGeom>
        </p:spPr>
      </p:pic>
      <p:sp>
        <p:nvSpPr>
          <p:cNvPr id="32" name="Text 24"/>
          <p:cNvSpPr/>
          <p:nvPr/>
        </p:nvSpPr>
        <p:spPr>
          <a:xfrm>
            <a:off x="6692900" y="4214495"/>
            <a:ext cx="20129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6F4"/>
                </a:solidFill>
                <a:latin typeface="Arial" pitchFamily="34" charset="0"/>
                <a:ea typeface="Arial" pitchFamily="34" charset="-122"/>
                <a:cs typeface="Arial" pitchFamily="34" charset="-120"/>
              </a:rPr>
              <a:t>Route risk comparison</a:t>
            </a:r>
            <a:endParaRPr lang="en-US" sz="1400" dirty="0"/>
          </a:p>
        </p:txBody>
      </p:sp>
      <p:sp>
        <p:nvSpPr>
          <p:cNvPr id="33" name="Shape 25"/>
          <p:cNvSpPr/>
          <p:nvPr/>
        </p:nvSpPr>
        <p:spPr>
          <a:xfrm>
            <a:off x="8832850" y="4046855"/>
            <a:ext cx="2546350" cy="584200"/>
          </a:xfrm>
          <a:prstGeom prst="roundRect">
            <a:avLst>
              <a:gd name="adj" fmla="val 17391"/>
            </a:avLst>
          </a:prstGeom>
          <a:solidFill>
            <a:srgbClr val="0B1424"/>
          </a:solidFill>
          <a:ln/>
        </p:spPr>
      </p:sp>
      <p:pic>
        <p:nvPicPr>
          <p:cNvPr id="34" name="Image 6" descr="Trust">    </p:cNvPr>
          <p:cNvPicPr>
            <a:picLocks noChangeAspect="1"/>
          </p:cNvPicPr>
          <p:nvPr/>
        </p:nvPicPr>
        <p:blipFill>
          <a:blip r:embed="rId7"/>
          <a:srcRect l="0" r="0" t="0" b="0"/>
          <a:stretch/>
        </p:blipFill>
        <p:spPr>
          <a:xfrm>
            <a:off x="8985250" y="4199255"/>
            <a:ext cx="279400" cy="279400"/>
          </a:xfrm>
          <a:prstGeom prst="rect">
            <a:avLst/>
          </a:prstGeom>
        </p:spPr>
      </p:pic>
      <p:sp>
        <p:nvSpPr>
          <p:cNvPr id="35" name="Text 26"/>
          <p:cNvSpPr/>
          <p:nvPr/>
        </p:nvSpPr>
        <p:spPr>
          <a:xfrm>
            <a:off x="9366250" y="4214495"/>
            <a:ext cx="190966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6F4"/>
                </a:solidFill>
                <a:latin typeface="Arial" pitchFamily="34" charset="0"/>
                <a:ea typeface="Arial" pitchFamily="34" charset="-122"/>
                <a:cs typeface="Arial" pitchFamily="34" charset="-120"/>
              </a:rPr>
              <a:t>Authority dashboard</a:t>
            </a:r>
            <a:endParaRPr lang="en-US" sz="1400" dirty="0"/>
          </a:p>
        </p:txBody>
      </p:sp>
      <p:sp>
        <p:nvSpPr>
          <p:cNvPr id="36" name="Text 27"/>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Arial" pitchFamily="34" charset="0"/>
                <a:ea typeface="Arial" pitchFamily="34" charset="-122"/>
                <a:cs typeface="Arial" pitchFamily="34" charset="-120"/>
              </a:rPr>
              <a:t>X_Coder · RoadGuardian</a:t>
            </a:r>
            <a:endParaRPr lang="en-US" sz="1200" dirty="0"/>
          </a:p>
        </p:txBody>
      </p:sp>
      <p:sp>
        <p:nvSpPr>
          <p:cNvPr id="37" name="Text 28"/>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66A"/>
                </a:solidFill>
                <a:latin typeface="Arial" pitchFamily="34" charset="0"/>
                <a:ea typeface="Arial" pitchFamily="34" charset="-122"/>
                <a:cs typeface="Arial" pitchFamily="34" charset="-120"/>
              </a:rPr>
              <a:t>2 / 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4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DD4BF"/>
                </a:solidFill>
                <a:latin typeface="Arial" pitchFamily="34" charset="0"/>
                <a:ea typeface="Arial" pitchFamily="34" charset="-122"/>
                <a:cs typeface="Arial" pitchFamily="34" charset="-120"/>
              </a:rPr>
              <a:t>TECHNICAL APPROACH · PART 1</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2F6F4"/>
                </a:solidFill>
                <a:latin typeface="Arial" pitchFamily="34" charset="0"/>
                <a:ea typeface="Arial" pitchFamily="34" charset="-122"/>
                <a:cs typeface="Arial" pitchFamily="34" charset="-120"/>
              </a:rPr>
              <a:t>Technology stack and architecture</a:t>
            </a:r>
            <a:endParaRPr lang="en-US" sz="3200" dirty="0"/>
          </a:p>
        </p:txBody>
      </p:sp>
      <p:sp>
        <p:nvSpPr>
          <p:cNvPr id="4" name="Text 2"/>
          <p:cNvSpPr/>
          <p:nvPr/>
        </p:nvSpPr>
        <p:spPr>
          <a:xfrm>
            <a:off x="812800" y="1778000"/>
            <a:ext cx="1905000" cy="513080"/>
          </a:xfrm>
          <a:prstGeom prst="roundRect">
            <a:avLst>
              <a:gd name="adj" fmla="val 17327"/>
            </a:avLst>
          </a:prstGeom>
          <a:solidFill>
            <a:srgbClr val="2DD4BF"/>
          </a:solidFill>
          <a:ln/>
        </p:spPr>
        <p:txBody>
          <a:bodyPr wrap="square" lIns="126362" tIns="100962" rIns="75562" bIns="85722" rtlCol="0" anchor="t">
            <a:normAutofit/>
          </a:bodyPr>
          <a:lstStyle/>
          <a:p>
            <a:pPr algn="l" indent="0" marL="0">
              <a:lnSpc>
                <a:spcPts val="1960"/>
              </a:lnSpc>
              <a:buNone/>
            </a:pPr>
            <a:r>
              <a:rPr lang="en-US" sz="1400" b="1" dirty="0">
                <a:solidFill>
                  <a:srgbClr val="0B1424"/>
                </a:solidFill>
                <a:latin typeface="Arial" pitchFamily="34" charset="0"/>
                <a:ea typeface="Arial" pitchFamily="34" charset="-122"/>
                <a:cs typeface="Arial" pitchFamily="34" charset="-120"/>
              </a:rPr>
              <a:t>Frontend</a:t>
            </a:r>
            <a:endParaRPr lang="en-US" sz="1400" dirty="0"/>
          </a:p>
        </p:txBody>
      </p:sp>
      <p:sp>
        <p:nvSpPr>
          <p:cNvPr id="5" name="Text 3"/>
          <p:cNvSpPr/>
          <p:nvPr/>
        </p:nvSpPr>
        <p:spPr>
          <a:xfrm>
            <a:off x="2822575" y="1781175"/>
            <a:ext cx="8553450" cy="506730"/>
          </a:xfrm>
          <a:prstGeom prst="roundRect">
            <a:avLst>
              <a:gd name="adj" fmla="val 16917"/>
            </a:avLst>
          </a:prstGeom>
          <a:solidFill>
            <a:srgbClr val="14233D"/>
          </a:solidFill>
          <a:ln w="6350">
            <a:solidFill>
              <a:srgbClr val="24385A"/>
            </a:solidFill>
            <a:prstDash val="solid"/>
          </a:ln>
        </p:spPr>
        <p:txBody>
          <a:bodyPr wrap="square" lIns="154597" tIns="103797" rIns="0" bIns="78397" rtlCol="0" anchor="t">
            <a:normAutofit/>
          </a:bodyPr>
          <a:lstStyle/>
          <a:p>
            <a:pPr algn="l" indent="0" marL="0">
              <a:lnSpc>
                <a:spcPts val="1960"/>
              </a:lnSpc>
              <a:buNone/>
            </a:pPr>
            <a:r>
              <a:rPr lang="en-US" sz="1400" dirty="0">
                <a:solidFill>
                  <a:srgbClr val="F2F6F4"/>
                </a:solidFill>
                <a:latin typeface="Arial" pitchFamily="34" charset="0"/>
                <a:ea typeface="Arial" pitchFamily="34" charset="-122"/>
                <a:cs typeface="Arial" pitchFamily="34" charset="-120"/>
              </a:rPr>
              <a:t>React + Vite · Tailwind CSS · Leaflet / OpenStreetMap · Recharts</a:t>
            </a:r>
            <a:endParaRPr lang="en-US" sz="1400" dirty="0"/>
          </a:p>
        </p:txBody>
      </p:sp>
      <p:sp>
        <p:nvSpPr>
          <p:cNvPr id="6" name="Text 4"/>
          <p:cNvSpPr/>
          <p:nvPr/>
        </p:nvSpPr>
        <p:spPr>
          <a:xfrm>
            <a:off x="812800" y="2379980"/>
            <a:ext cx="1905000" cy="513080"/>
          </a:xfrm>
          <a:prstGeom prst="roundRect">
            <a:avLst>
              <a:gd name="adj" fmla="val 17327"/>
            </a:avLst>
          </a:prstGeom>
          <a:solidFill>
            <a:srgbClr val="2DD4BF"/>
          </a:solidFill>
          <a:ln/>
        </p:spPr>
        <p:txBody>
          <a:bodyPr wrap="square" lIns="126362" tIns="100962" rIns="75562" bIns="85722" rtlCol="0" anchor="t">
            <a:normAutofit/>
          </a:bodyPr>
          <a:lstStyle/>
          <a:p>
            <a:pPr algn="l" indent="0" marL="0">
              <a:lnSpc>
                <a:spcPts val="1960"/>
              </a:lnSpc>
              <a:buNone/>
            </a:pPr>
            <a:r>
              <a:rPr lang="en-US" sz="1400" b="1" dirty="0">
                <a:solidFill>
                  <a:srgbClr val="0B1424"/>
                </a:solidFill>
                <a:latin typeface="Arial" pitchFamily="34" charset="0"/>
                <a:ea typeface="Arial" pitchFamily="34" charset="-122"/>
                <a:cs typeface="Arial" pitchFamily="34" charset="-120"/>
              </a:rPr>
              <a:t>Backend</a:t>
            </a:r>
            <a:endParaRPr lang="en-US" sz="1400" dirty="0"/>
          </a:p>
        </p:txBody>
      </p:sp>
      <p:sp>
        <p:nvSpPr>
          <p:cNvPr id="7" name="Text 5"/>
          <p:cNvSpPr/>
          <p:nvPr/>
        </p:nvSpPr>
        <p:spPr>
          <a:xfrm>
            <a:off x="2822575" y="2383155"/>
            <a:ext cx="8553450" cy="506730"/>
          </a:xfrm>
          <a:prstGeom prst="roundRect">
            <a:avLst>
              <a:gd name="adj" fmla="val 16917"/>
            </a:avLst>
          </a:prstGeom>
          <a:solidFill>
            <a:srgbClr val="14233D"/>
          </a:solidFill>
          <a:ln w="6350">
            <a:solidFill>
              <a:srgbClr val="24385A"/>
            </a:solidFill>
            <a:prstDash val="solid"/>
          </a:ln>
        </p:spPr>
        <p:txBody>
          <a:bodyPr wrap="square" lIns="154597" tIns="103797" rIns="0" bIns="78397" rtlCol="0" anchor="t">
            <a:normAutofit/>
          </a:bodyPr>
          <a:lstStyle/>
          <a:p>
            <a:pPr algn="l" indent="0" marL="0">
              <a:lnSpc>
                <a:spcPts val="1960"/>
              </a:lnSpc>
              <a:buNone/>
            </a:pPr>
            <a:r>
              <a:rPr lang="en-US" sz="1400" dirty="0">
                <a:solidFill>
                  <a:srgbClr val="F2F6F4"/>
                </a:solidFill>
                <a:latin typeface="Arial" pitchFamily="34" charset="0"/>
                <a:ea typeface="Arial" pitchFamily="34" charset="-122"/>
                <a:cs typeface="Arial" pitchFamily="34" charset="-120"/>
              </a:rPr>
              <a:t>Python FastAPI · validated REST API · token-protected status updates</a:t>
            </a:r>
            <a:endParaRPr lang="en-US" sz="1400" dirty="0"/>
          </a:p>
        </p:txBody>
      </p:sp>
      <p:sp>
        <p:nvSpPr>
          <p:cNvPr id="8" name="Text 6"/>
          <p:cNvSpPr/>
          <p:nvPr/>
        </p:nvSpPr>
        <p:spPr>
          <a:xfrm>
            <a:off x="812800" y="2981961"/>
            <a:ext cx="1905000" cy="513080"/>
          </a:xfrm>
          <a:prstGeom prst="roundRect">
            <a:avLst>
              <a:gd name="adj" fmla="val 17327"/>
            </a:avLst>
          </a:prstGeom>
          <a:solidFill>
            <a:srgbClr val="2DD4BF"/>
          </a:solidFill>
          <a:ln/>
        </p:spPr>
        <p:txBody>
          <a:bodyPr wrap="square" lIns="126362" tIns="100962" rIns="75562" bIns="85722" rtlCol="0" anchor="t">
            <a:normAutofit/>
          </a:bodyPr>
          <a:lstStyle/>
          <a:p>
            <a:pPr algn="l" indent="0" marL="0">
              <a:lnSpc>
                <a:spcPts val="1960"/>
              </a:lnSpc>
              <a:buNone/>
            </a:pPr>
            <a:r>
              <a:rPr lang="en-US" sz="1400" b="1" dirty="0">
                <a:solidFill>
                  <a:srgbClr val="0B1424"/>
                </a:solidFill>
                <a:latin typeface="Arial" pitchFamily="34" charset="0"/>
                <a:ea typeface="Arial" pitchFamily="34" charset="-122"/>
                <a:cs typeface="Arial" pitchFamily="34" charset="-120"/>
              </a:rPr>
              <a:t>Database</a:t>
            </a:r>
            <a:endParaRPr lang="en-US" sz="1400" dirty="0"/>
          </a:p>
        </p:txBody>
      </p:sp>
      <p:sp>
        <p:nvSpPr>
          <p:cNvPr id="9" name="Text 7"/>
          <p:cNvSpPr/>
          <p:nvPr/>
        </p:nvSpPr>
        <p:spPr>
          <a:xfrm>
            <a:off x="2822575" y="2985136"/>
            <a:ext cx="8553450" cy="506730"/>
          </a:xfrm>
          <a:prstGeom prst="roundRect">
            <a:avLst>
              <a:gd name="adj" fmla="val 16917"/>
            </a:avLst>
          </a:prstGeom>
          <a:solidFill>
            <a:srgbClr val="14233D"/>
          </a:solidFill>
          <a:ln w="6350">
            <a:solidFill>
              <a:srgbClr val="24385A"/>
            </a:solidFill>
            <a:prstDash val="solid"/>
          </a:ln>
        </p:spPr>
        <p:txBody>
          <a:bodyPr wrap="square" lIns="154597" tIns="103797" rIns="0" bIns="78397" rtlCol="0" anchor="t">
            <a:normAutofit/>
          </a:bodyPr>
          <a:lstStyle/>
          <a:p>
            <a:pPr algn="l" indent="0" marL="0">
              <a:lnSpc>
                <a:spcPts val="1960"/>
              </a:lnSpc>
              <a:buNone/>
            </a:pPr>
            <a:r>
              <a:rPr lang="en-US" sz="1400" dirty="0">
                <a:solidFill>
                  <a:srgbClr val="F2F6F4"/>
                </a:solidFill>
                <a:latin typeface="Arial" pitchFamily="34" charset="0"/>
                <a:ea typeface="Arial" pitchFamily="34" charset="-122"/>
                <a:cs typeface="Arial" pitchFamily="34" charset="-120"/>
              </a:rPr>
              <a:t>SQLite with SQLModel · swappable through a config setting</a:t>
            </a:r>
            <a:endParaRPr lang="en-US" sz="1400" dirty="0"/>
          </a:p>
        </p:txBody>
      </p:sp>
      <p:sp>
        <p:nvSpPr>
          <p:cNvPr id="10" name="Text 8"/>
          <p:cNvSpPr/>
          <p:nvPr/>
        </p:nvSpPr>
        <p:spPr>
          <a:xfrm>
            <a:off x="812800" y="3583941"/>
            <a:ext cx="1905000" cy="513080"/>
          </a:xfrm>
          <a:prstGeom prst="roundRect">
            <a:avLst>
              <a:gd name="adj" fmla="val 17327"/>
            </a:avLst>
          </a:prstGeom>
          <a:solidFill>
            <a:srgbClr val="F5B544"/>
          </a:solidFill>
          <a:ln/>
        </p:spPr>
        <p:txBody>
          <a:bodyPr wrap="square" lIns="126362" tIns="100962" rIns="75562" bIns="85722" rtlCol="0" anchor="t">
            <a:normAutofit/>
          </a:bodyPr>
          <a:lstStyle/>
          <a:p>
            <a:pPr algn="l" indent="0" marL="0">
              <a:lnSpc>
                <a:spcPts val="1960"/>
              </a:lnSpc>
              <a:buNone/>
            </a:pPr>
            <a:r>
              <a:rPr lang="en-US" sz="1400" b="1" dirty="0">
                <a:solidFill>
                  <a:srgbClr val="0B1424"/>
                </a:solidFill>
                <a:latin typeface="Arial" pitchFamily="34" charset="0"/>
                <a:ea typeface="Arial" pitchFamily="34" charset="-122"/>
                <a:cs typeface="Arial" pitchFamily="34" charset="-120"/>
              </a:rPr>
              <a:t>AI / ML</a:t>
            </a:r>
            <a:endParaRPr lang="en-US" sz="1400" dirty="0"/>
          </a:p>
        </p:txBody>
      </p:sp>
      <p:sp>
        <p:nvSpPr>
          <p:cNvPr id="11" name="Text 9"/>
          <p:cNvSpPr/>
          <p:nvPr/>
        </p:nvSpPr>
        <p:spPr>
          <a:xfrm>
            <a:off x="2822575" y="3587116"/>
            <a:ext cx="8553450" cy="506730"/>
          </a:xfrm>
          <a:prstGeom prst="roundRect">
            <a:avLst>
              <a:gd name="adj" fmla="val 16917"/>
            </a:avLst>
          </a:prstGeom>
          <a:solidFill>
            <a:srgbClr val="14233D"/>
          </a:solidFill>
          <a:ln w="6350">
            <a:solidFill>
              <a:srgbClr val="24385A"/>
            </a:solidFill>
            <a:prstDash val="solid"/>
          </a:ln>
        </p:spPr>
        <p:txBody>
          <a:bodyPr wrap="square" lIns="154597" tIns="103797" rIns="0" bIns="78397" rtlCol="0" anchor="t">
            <a:normAutofit/>
          </a:bodyPr>
          <a:lstStyle/>
          <a:p>
            <a:pPr algn="l" indent="0" marL="0">
              <a:lnSpc>
                <a:spcPts val="1960"/>
              </a:lnSpc>
              <a:buNone/>
            </a:pPr>
            <a:r>
              <a:rPr lang="en-US" sz="1400" dirty="0">
                <a:solidFill>
                  <a:srgbClr val="F2F6F4"/>
                </a:solidFill>
                <a:latin typeface="Arial" pitchFamily="34" charset="0"/>
                <a:ea typeface="Arial" pitchFamily="34" charset="-122"/>
                <a:cs typeface="Arial" pitchFamily="34" charset="-120"/>
              </a:rPr>
              <a:t>Ultralytics YOLOv8 road-damage model trained on RDD2022 (4 damage classes)</a:t>
            </a:r>
            <a:endParaRPr lang="en-US" sz="1400" dirty="0"/>
          </a:p>
        </p:txBody>
      </p:sp>
      <p:sp>
        <p:nvSpPr>
          <p:cNvPr id="12" name="Text 10"/>
          <p:cNvSpPr/>
          <p:nvPr/>
        </p:nvSpPr>
        <p:spPr>
          <a:xfrm>
            <a:off x="812800" y="4185920"/>
            <a:ext cx="1905000" cy="513080"/>
          </a:xfrm>
          <a:prstGeom prst="roundRect">
            <a:avLst>
              <a:gd name="adj" fmla="val 17327"/>
            </a:avLst>
          </a:prstGeom>
          <a:solidFill>
            <a:srgbClr val="2DD4BF"/>
          </a:solidFill>
          <a:ln/>
        </p:spPr>
        <p:txBody>
          <a:bodyPr wrap="square" lIns="126362" tIns="100962" rIns="75562" bIns="85722" rtlCol="0" anchor="t">
            <a:normAutofit/>
          </a:bodyPr>
          <a:lstStyle/>
          <a:p>
            <a:pPr algn="l" indent="0" marL="0">
              <a:lnSpc>
                <a:spcPts val="1960"/>
              </a:lnSpc>
              <a:buNone/>
            </a:pPr>
            <a:r>
              <a:rPr lang="en-US" sz="1400" b="1" dirty="0">
                <a:solidFill>
                  <a:srgbClr val="0B1424"/>
                </a:solidFill>
                <a:latin typeface="Arial" pitchFamily="34" charset="0"/>
                <a:ea typeface="Arial" pitchFamily="34" charset="-122"/>
                <a:cs typeface="Arial" pitchFamily="34" charset="-120"/>
              </a:rPr>
              <a:t>Routing</a:t>
            </a:r>
            <a:endParaRPr lang="en-US" sz="1400" dirty="0"/>
          </a:p>
        </p:txBody>
      </p:sp>
      <p:sp>
        <p:nvSpPr>
          <p:cNvPr id="13" name="Text 11"/>
          <p:cNvSpPr/>
          <p:nvPr/>
        </p:nvSpPr>
        <p:spPr>
          <a:xfrm>
            <a:off x="2822575" y="4189095"/>
            <a:ext cx="8553450" cy="506730"/>
          </a:xfrm>
          <a:prstGeom prst="roundRect">
            <a:avLst>
              <a:gd name="adj" fmla="val 16917"/>
            </a:avLst>
          </a:prstGeom>
          <a:solidFill>
            <a:srgbClr val="14233D"/>
          </a:solidFill>
          <a:ln w="6350">
            <a:solidFill>
              <a:srgbClr val="24385A"/>
            </a:solidFill>
            <a:prstDash val="solid"/>
          </a:ln>
        </p:spPr>
        <p:txBody>
          <a:bodyPr wrap="square" lIns="154597" tIns="103797" rIns="0" bIns="78397" rtlCol="0" anchor="t">
            <a:normAutofit/>
          </a:bodyPr>
          <a:lstStyle/>
          <a:p>
            <a:pPr algn="l" indent="0" marL="0">
              <a:lnSpc>
                <a:spcPts val="1960"/>
              </a:lnSpc>
              <a:buNone/>
            </a:pPr>
            <a:r>
              <a:rPr lang="en-US" sz="1400" dirty="0">
                <a:solidFill>
                  <a:srgbClr val="F2F6F4"/>
                </a:solidFill>
                <a:latin typeface="Arial" pitchFamily="34" charset="0"/>
                <a:ea typeface="Arial" pitchFamily="34" charset="-122"/>
                <a:cs typeface="Arial" pitchFamily="34" charset="-120"/>
              </a:rPr>
              <a:t>OSRM behind a replaceable provider adapter</a:t>
            </a:r>
            <a:endParaRPr lang="en-US" sz="1400" dirty="0"/>
          </a:p>
        </p:txBody>
      </p:sp>
      <p:sp>
        <p:nvSpPr>
          <p:cNvPr id="14" name="Text 12"/>
          <p:cNvSpPr/>
          <p:nvPr/>
        </p:nvSpPr>
        <p:spPr>
          <a:xfrm>
            <a:off x="812800" y="4787900"/>
            <a:ext cx="1905000" cy="513080"/>
          </a:xfrm>
          <a:prstGeom prst="roundRect">
            <a:avLst>
              <a:gd name="adj" fmla="val 17327"/>
            </a:avLst>
          </a:prstGeom>
          <a:solidFill>
            <a:srgbClr val="B8C7DC"/>
          </a:solidFill>
          <a:ln/>
        </p:spPr>
        <p:txBody>
          <a:bodyPr wrap="square" lIns="126362" tIns="100962" rIns="75562" bIns="85722" rtlCol="0" anchor="t">
            <a:normAutofit/>
          </a:bodyPr>
          <a:lstStyle/>
          <a:p>
            <a:pPr algn="l" indent="0" marL="0">
              <a:lnSpc>
                <a:spcPts val="1960"/>
              </a:lnSpc>
              <a:buNone/>
            </a:pPr>
            <a:r>
              <a:rPr lang="en-US" sz="1400" b="1" dirty="0">
                <a:solidFill>
                  <a:srgbClr val="0B1424"/>
                </a:solidFill>
                <a:latin typeface="Arial" pitchFamily="34" charset="0"/>
                <a:ea typeface="Arial" pitchFamily="34" charset="-122"/>
                <a:cs typeface="Arial" pitchFamily="34" charset="-120"/>
              </a:rPr>
              <a:t>Hardware</a:t>
            </a:r>
            <a:endParaRPr lang="en-US" sz="1400" dirty="0"/>
          </a:p>
        </p:txBody>
      </p:sp>
      <p:sp>
        <p:nvSpPr>
          <p:cNvPr id="15" name="Text 13"/>
          <p:cNvSpPr/>
          <p:nvPr/>
        </p:nvSpPr>
        <p:spPr>
          <a:xfrm>
            <a:off x="2822575" y="4791075"/>
            <a:ext cx="8553450" cy="506730"/>
          </a:xfrm>
          <a:prstGeom prst="roundRect">
            <a:avLst>
              <a:gd name="adj" fmla="val 16917"/>
            </a:avLst>
          </a:prstGeom>
          <a:solidFill>
            <a:srgbClr val="14233D"/>
          </a:solidFill>
          <a:ln w="6350">
            <a:solidFill>
              <a:srgbClr val="24385A"/>
            </a:solidFill>
            <a:prstDash val="solid"/>
          </a:ln>
        </p:spPr>
        <p:txBody>
          <a:bodyPr wrap="square" lIns="154597" tIns="103797" rIns="0" bIns="78397" rtlCol="0" anchor="t">
            <a:normAutofit/>
          </a:bodyPr>
          <a:lstStyle/>
          <a:p>
            <a:pPr algn="l" indent="0" marL="0">
              <a:lnSpc>
                <a:spcPts val="1960"/>
              </a:lnSpc>
              <a:buNone/>
            </a:pPr>
            <a:r>
              <a:rPr lang="en-US" sz="1400" dirty="0">
                <a:solidFill>
                  <a:srgbClr val="F2F6F4"/>
                </a:solidFill>
                <a:latin typeface="Arial" pitchFamily="34" charset="0"/>
                <a:ea typeface="Arial" pitchFamily="34" charset="-122"/>
                <a:cs typeface="Arial" pitchFamily="34" charset="-120"/>
              </a:rPr>
              <a:t>None extra: a phone or laptop camera and location</a:t>
            </a:r>
            <a:endParaRPr lang="en-US" sz="1400" dirty="0"/>
          </a:p>
        </p:txBody>
      </p:sp>
      <p:sp>
        <p:nvSpPr>
          <p:cNvPr id="16" name="Text 14"/>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7DC"/>
                </a:solidFill>
                <a:latin typeface="Arial" pitchFamily="34" charset="0"/>
                <a:ea typeface="Arial" pitchFamily="34" charset="-122"/>
                <a:cs typeface="Arial" pitchFamily="34" charset="-120"/>
              </a:rPr>
              <a:t>X_Coder · RoadGuardian</a:t>
            </a:r>
            <a:endParaRPr lang="en-US" sz="1200" dirty="0"/>
          </a:p>
        </p:txBody>
      </p:sp>
      <p:sp>
        <p:nvSpPr>
          <p:cNvPr id="17" name="Text 15"/>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C7DC"/>
                </a:solidFill>
                <a:latin typeface="Arial" pitchFamily="34" charset="0"/>
                <a:ea typeface="Arial" pitchFamily="34" charset="-122"/>
                <a:cs typeface="Arial" pitchFamily="34" charset="-120"/>
              </a:rPr>
              <a:t>3 / 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Arial" pitchFamily="34" charset="0"/>
                <a:ea typeface="Arial" pitchFamily="34" charset="-122"/>
                <a:cs typeface="Arial" pitchFamily="34" charset="-120"/>
              </a:rPr>
              <a:t>TECHNICAL APPROACH · PART 2</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1424"/>
                </a:solidFill>
                <a:latin typeface="Arial" pitchFamily="34" charset="0"/>
                <a:ea typeface="Arial" pitchFamily="34" charset="-122"/>
                <a:cs typeface="Arial" pitchFamily="34" charset="-120"/>
              </a:rPr>
              <a:t>Detection-to-route workflow</a:t>
            </a:r>
            <a:endParaRPr lang="en-US" sz="3200" dirty="0"/>
          </a:p>
        </p:txBody>
      </p:sp>
      <p:sp>
        <p:nvSpPr>
          <p:cNvPr id="4" name="Shape 2"/>
          <p:cNvSpPr/>
          <p:nvPr/>
        </p:nvSpPr>
        <p:spPr>
          <a:xfrm>
            <a:off x="815975" y="1806575"/>
            <a:ext cx="1741170" cy="1254125"/>
          </a:xfrm>
          <a:prstGeom prst="roundRect">
            <a:avLst>
              <a:gd name="adj" fmla="val 9873"/>
            </a:avLst>
          </a:prstGeom>
          <a:solidFill>
            <a:srgbClr val="FBFCFB"/>
          </a:solidFill>
          <a:ln w="6350">
            <a:solidFill>
              <a:srgbClr val="D5E0DC"/>
            </a:solidFill>
            <a:prstDash val="solid"/>
          </a:ln>
        </p:spPr>
      </p:sp>
      <p:sp>
        <p:nvSpPr>
          <p:cNvPr id="5" name="Text 3"/>
          <p:cNvSpPr/>
          <p:nvPr/>
        </p:nvSpPr>
        <p:spPr>
          <a:xfrm>
            <a:off x="970280" y="1960880"/>
            <a:ext cx="14833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Arial" pitchFamily="34" charset="0"/>
                <a:ea typeface="Arial" pitchFamily="34" charset="-122"/>
                <a:cs typeface="Arial" pitchFamily="34" charset="-120"/>
              </a:rPr>
              <a:t>1 · Upload</a:t>
            </a:r>
            <a:endParaRPr lang="en-US" sz="1200" dirty="0"/>
          </a:p>
        </p:txBody>
      </p:sp>
      <p:sp>
        <p:nvSpPr>
          <p:cNvPr id="6" name="Text 4"/>
          <p:cNvSpPr/>
          <p:nvPr/>
        </p:nvSpPr>
        <p:spPr>
          <a:xfrm>
            <a:off x="970280" y="2237741"/>
            <a:ext cx="1483360"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6566A"/>
                </a:solidFill>
                <a:latin typeface="Arial" pitchFamily="34" charset="0"/>
                <a:ea typeface="Arial" pitchFamily="34" charset="-122"/>
                <a:cs typeface="Arial" pitchFamily="34" charset="-120"/>
              </a:rPr>
              <a:t>Type and size checked; location data stripped</a:t>
            </a:r>
            <a:endParaRPr lang="en-US" sz="1300" dirty="0"/>
          </a:p>
        </p:txBody>
      </p:sp>
      <p:pic>
        <p:nvPicPr>
          <p:cNvPr id="7" name="Image 0" descr="arrow-right">    </p:cNvPr>
          <p:cNvPicPr>
            <a:picLocks noChangeAspect="1"/>
          </p:cNvPicPr>
          <p:nvPr/>
        </p:nvPicPr>
        <p:blipFill>
          <a:blip r:embed="rId1"/>
          <a:srcRect l="0" r="0" t="0" b="0"/>
          <a:stretch/>
        </p:blipFill>
        <p:spPr>
          <a:xfrm>
            <a:off x="2661920" y="2357438"/>
            <a:ext cx="254000" cy="152400"/>
          </a:xfrm>
          <a:prstGeom prst="rect">
            <a:avLst/>
          </a:prstGeom>
        </p:spPr>
      </p:pic>
      <p:sp>
        <p:nvSpPr>
          <p:cNvPr id="8" name="Shape 5"/>
          <p:cNvSpPr/>
          <p:nvPr/>
        </p:nvSpPr>
        <p:spPr>
          <a:xfrm>
            <a:off x="3020695" y="1806575"/>
            <a:ext cx="1741170" cy="1254125"/>
          </a:xfrm>
          <a:prstGeom prst="roundRect">
            <a:avLst>
              <a:gd name="adj" fmla="val 9873"/>
            </a:avLst>
          </a:prstGeom>
          <a:solidFill>
            <a:srgbClr val="FBFCFB"/>
          </a:solidFill>
          <a:ln w="6350">
            <a:solidFill>
              <a:srgbClr val="D5E0DC"/>
            </a:solidFill>
            <a:prstDash val="solid"/>
          </a:ln>
        </p:spPr>
      </p:sp>
      <p:sp>
        <p:nvSpPr>
          <p:cNvPr id="9" name="Text 6"/>
          <p:cNvSpPr/>
          <p:nvPr/>
        </p:nvSpPr>
        <p:spPr>
          <a:xfrm>
            <a:off x="3175000" y="1960880"/>
            <a:ext cx="14833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Arial" pitchFamily="34" charset="0"/>
                <a:ea typeface="Arial" pitchFamily="34" charset="-122"/>
                <a:cs typeface="Arial" pitchFamily="34" charset="-120"/>
              </a:rPr>
              <a:t>2 · Detect</a:t>
            </a:r>
            <a:endParaRPr lang="en-US" sz="1200" dirty="0"/>
          </a:p>
        </p:txBody>
      </p:sp>
      <p:sp>
        <p:nvSpPr>
          <p:cNvPr id="10" name="Text 7"/>
          <p:cNvSpPr/>
          <p:nvPr/>
        </p:nvSpPr>
        <p:spPr>
          <a:xfrm>
            <a:off x="3175000" y="2237741"/>
            <a:ext cx="1483360"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6566A"/>
                </a:solidFill>
                <a:latin typeface="Arial" pitchFamily="34" charset="0"/>
                <a:ea typeface="Arial" pitchFamily="34" charset="-122"/>
                <a:cs typeface="Arial" pitchFamily="34" charset="-120"/>
              </a:rPr>
              <a:t>YOLO returns class, box and confidence</a:t>
            </a:r>
            <a:endParaRPr lang="en-US" sz="1300" dirty="0"/>
          </a:p>
        </p:txBody>
      </p:sp>
      <p:pic>
        <p:nvPicPr>
          <p:cNvPr id="11" name="Image 1" descr="arrow-right">    </p:cNvPr>
          <p:cNvPicPr>
            <a:picLocks noChangeAspect="1"/>
          </p:cNvPicPr>
          <p:nvPr/>
        </p:nvPicPr>
        <p:blipFill>
          <a:blip r:embed="rId2"/>
          <a:srcRect l="0" r="0" t="0" b="0"/>
          <a:stretch/>
        </p:blipFill>
        <p:spPr>
          <a:xfrm>
            <a:off x="4866640" y="2357438"/>
            <a:ext cx="254000" cy="152400"/>
          </a:xfrm>
          <a:prstGeom prst="rect">
            <a:avLst/>
          </a:prstGeom>
        </p:spPr>
      </p:pic>
      <p:sp>
        <p:nvSpPr>
          <p:cNvPr id="12" name="Shape 8"/>
          <p:cNvSpPr/>
          <p:nvPr/>
        </p:nvSpPr>
        <p:spPr>
          <a:xfrm>
            <a:off x="5225415" y="1918018"/>
            <a:ext cx="1741170" cy="1031240"/>
          </a:xfrm>
          <a:prstGeom prst="roundRect">
            <a:avLst>
              <a:gd name="adj" fmla="val 12007"/>
            </a:avLst>
          </a:prstGeom>
          <a:solidFill>
            <a:srgbClr val="FBFCFB"/>
          </a:solidFill>
          <a:ln w="6350">
            <a:solidFill>
              <a:srgbClr val="D5E0DC"/>
            </a:solidFill>
            <a:prstDash val="solid"/>
          </a:ln>
        </p:spPr>
      </p:sp>
      <p:sp>
        <p:nvSpPr>
          <p:cNvPr id="13" name="Text 9"/>
          <p:cNvSpPr/>
          <p:nvPr/>
        </p:nvSpPr>
        <p:spPr>
          <a:xfrm>
            <a:off x="5379720" y="2072323"/>
            <a:ext cx="14833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Arial" pitchFamily="34" charset="0"/>
                <a:ea typeface="Arial" pitchFamily="34" charset="-122"/>
                <a:cs typeface="Arial" pitchFamily="34" charset="-120"/>
              </a:rPr>
              <a:t>3 · Review</a:t>
            </a:r>
            <a:endParaRPr lang="en-US" sz="1200" dirty="0"/>
          </a:p>
        </p:txBody>
      </p:sp>
      <p:sp>
        <p:nvSpPr>
          <p:cNvPr id="14" name="Text 10"/>
          <p:cNvSpPr/>
          <p:nvPr/>
        </p:nvSpPr>
        <p:spPr>
          <a:xfrm>
            <a:off x="5379720" y="2349182"/>
            <a:ext cx="148336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6566A"/>
                </a:solidFill>
                <a:latin typeface="Arial" pitchFamily="34" charset="0"/>
                <a:ea typeface="Arial" pitchFamily="34" charset="-122"/>
                <a:cs typeface="Arial" pitchFamily="34" charset="-120"/>
              </a:rPr>
              <a:t>User corrects type and severity</a:t>
            </a:r>
            <a:endParaRPr lang="en-US" sz="1300" dirty="0"/>
          </a:p>
        </p:txBody>
      </p:sp>
      <p:pic>
        <p:nvPicPr>
          <p:cNvPr id="15" name="Image 2" descr="arrow-right">    </p:cNvPr>
          <p:cNvPicPr>
            <a:picLocks noChangeAspect="1"/>
          </p:cNvPicPr>
          <p:nvPr/>
        </p:nvPicPr>
        <p:blipFill>
          <a:blip r:embed="rId3"/>
          <a:srcRect l="0" r="0" t="0" b="0"/>
          <a:stretch/>
        </p:blipFill>
        <p:spPr>
          <a:xfrm>
            <a:off x="7071360" y="2357438"/>
            <a:ext cx="254000" cy="152400"/>
          </a:xfrm>
          <a:prstGeom prst="rect">
            <a:avLst/>
          </a:prstGeom>
        </p:spPr>
      </p:pic>
      <p:sp>
        <p:nvSpPr>
          <p:cNvPr id="16" name="Shape 11"/>
          <p:cNvSpPr/>
          <p:nvPr/>
        </p:nvSpPr>
        <p:spPr>
          <a:xfrm>
            <a:off x="7430135" y="1918018"/>
            <a:ext cx="1741170" cy="1031240"/>
          </a:xfrm>
          <a:prstGeom prst="roundRect">
            <a:avLst>
              <a:gd name="adj" fmla="val 12007"/>
            </a:avLst>
          </a:prstGeom>
          <a:solidFill>
            <a:srgbClr val="FBFCFB"/>
          </a:solidFill>
          <a:ln w="6350">
            <a:solidFill>
              <a:srgbClr val="D5E0DC"/>
            </a:solidFill>
            <a:prstDash val="solid"/>
          </a:ln>
        </p:spPr>
      </p:sp>
      <p:sp>
        <p:nvSpPr>
          <p:cNvPr id="17" name="Text 12"/>
          <p:cNvSpPr/>
          <p:nvPr/>
        </p:nvSpPr>
        <p:spPr>
          <a:xfrm>
            <a:off x="7584440" y="2072323"/>
            <a:ext cx="14833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Arial" pitchFamily="34" charset="0"/>
                <a:ea typeface="Arial" pitchFamily="34" charset="-122"/>
                <a:cs typeface="Arial" pitchFamily="34" charset="-120"/>
              </a:rPr>
              <a:t>4 · Store</a:t>
            </a:r>
            <a:endParaRPr lang="en-US" sz="1200" dirty="0"/>
          </a:p>
        </p:txBody>
      </p:sp>
      <p:sp>
        <p:nvSpPr>
          <p:cNvPr id="18" name="Text 13"/>
          <p:cNvSpPr/>
          <p:nvPr/>
        </p:nvSpPr>
        <p:spPr>
          <a:xfrm>
            <a:off x="7584440" y="2349182"/>
            <a:ext cx="148336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6566A"/>
                </a:solidFill>
                <a:latin typeface="Arial" pitchFamily="34" charset="0"/>
                <a:ea typeface="Arial" pitchFamily="34" charset="-122"/>
                <a:cs typeface="Arial" pitchFamily="34" charset="-120"/>
              </a:rPr>
              <a:t>Saved with status history</a:t>
            </a:r>
            <a:endParaRPr lang="en-US" sz="1300" dirty="0"/>
          </a:p>
        </p:txBody>
      </p:sp>
      <p:pic>
        <p:nvPicPr>
          <p:cNvPr id="19" name="Image 3" descr="arrow-right">    </p:cNvPr>
          <p:cNvPicPr>
            <a:picLocks noChangeAspect="1"/>
          </p:cNvPicPr>
          <p:nvPr/>
        </p:nvPicPr>
        <p:blipFill>
          <a:blip r:embed="rId4"/>
          <a:srcRect l="0" r="0" t="0" b="0"/>
          <a:stretch/>
        </p:blipFill>
        <p:spPr>
          <a:xfrm>
            <a:off x="9276080" y="2357438"/>
            <a:ext cx="254000" cy="152400"/>
          </a:xfrm>
          <a:prstGeom prst="rect">
            <a:avLst/>
          </a:prstGeom>
        </p:spPr>
      </p:pic>
      <p:sp>
        <p:nvSpPr>
          <p:cNvPr id="20" name="Shape 14"/>
          <p:cNvSpPr/>
          <p:nvPr/>
        </p:nvSpPr>
        <p:spPr>
          <a:xfrm>
            <a:off x="9634855" y="1918018"/>
            <a:ext cx="1741170" cy="1031240"/>
          </a:xfrm>
          <a:prstGeom prst="roundRect">
            <a:avLst>
              <a:gd name="adj" fmla="val 12007"/>
            </a:avLst>
          </a:prstGeom>
          <a:solidFill>
            <a:srgbClr val="FBFCFB"/>
          </a:solidFill>
          <a:ln w="6350">
            <a:solidFill>
              <a:srgbClr val="D5E0DC"/>
            </a:solidFill>
            <a:prstDash val="solid"/>
          </a:ln>
        </p:spPr>
      </p:sp>
      <p:sp>
        <p:nvSpPr>
          <p:cNvPr id="21" name="Text 15"/>
          <p:cNvSpPr/>
          <p:nvPr/>
        </p:nvSpPr>
        <p:spPr>
          <a:xfrm>
            <a:off x="9789160" y="2072323"/>
            <a:ext cx="14833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Arial" pitchFamily="34" charset="0"/>
                <a:ea typeface="Arial" pitchFamily="34" charset="-122"/>
                <a:cs typeface="Arial" pitchFamily="34" charset="-120"/>
              </a:rPr>
              <a:t>5 · Verify</a:t>
            </a:r>
            <a:endParaRPr lang="en-US" sz="1200" dirty="0"/>
          </a:p>
        </p:txBody>
      </p:sp>
      <p:sp>
        <p:nvSpPr>
          <p:cNvPr id="22" name="Text 16"/>
          <p:cNvSpPr/>
          <p:nvPr/>
        </p:nvSpPr>
        <p:spPr>
          <a:xfrm>
            <a:off x="9789160" y="2349182"/>
            <a:ext cx="148336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6566A"/>
                </a:solidFill>
                <a:latin typeface="Arial" pitchFamily="34" charset="0"/>
                <a:ea typeface="Arial" pitchFamily="34" charset="-122"/>
                <a:cs typeface="Arial" pitchFamily="34" charset="-120"/>
              </a:rPr>
              <a:t>Confirm or flag; one vote each</a:t>
            </a:r>
            <a:endParaRPr lang="en-US" sz="1300" dirty="0"/>
          </a:p>
        </p:txBody>
      </p:sp>
      <p:sp>
        <p:nvSpPr>
          <p:cNvPr id="23" name="Shape 17"/>
          <p:cNvSpPr/>
          <p:nvPr/>
        </p:nvSpPr>
        <p:spPr>
          <a:xfrm>
            <a:off x="812800" y="3292475"/>
            <a:ext cx="10566400" cy="1803400"/>
          </a:xfrm>
          <a:prstGeom prst="roundRect">
            <a:avLst>
              <a:gd name="adj" fmla="val 8451"/>
            </a:avLst>
          </a:prstGeom>
          <a:solidFill>
            <a:srgbClr val="0B1424"/>
          </a:solidFill>
          <a:ln/>
        </p:spPr>
      </p:sp>
      <p:sp>
        <p:nvSpPr>
          <p:cNvPr id="24" name="Text 18"/>
          <p:cNvSpPr/>
          <p:nvPr/>
        </p:nvSpPr>
        <p:spPr>
          <a:xfrm>
            <a:off x="1066800" y="3546475"/>
            <a:ext cx="1036015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DD4BF"/>
                </a:solidFill>
                <a:latin typeface="Arial" pitchFamily="34" charset="0"/>
                <a:ea typeface="Arial" pitchFamily="34" charset="-122"/>
                <a:cs typeface="Arial" pitchFamily="34" charset="-120"/>
              </a:rPr>
              <a:t>ROUTE RISK SCORE · CONFIGURABLE AND DOCUMENTED</a:t>
            </a:r>
            <a:endParaRPr lang="en-US" sz="1200" dirty="0"/>
          </a:p>
        </p:txBody>
      </p:sp>
      <p:sp>
        <p:nvSpPr>
          <p:cNvPr id="25" name="Text 19"/>
          <p:cNvSpPr/>
          <p:nvPr/>
        </p:nvSpPr>
        <p:spPr>
          <a:xfrm>
            <a:off x="1066800" y="3874136"/>
            <a:ext cx="10360152"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2F6F4"/>
                </a:solidFill>
                <a:latin typeface="Arial" pitchFamily="34" charset="0"/>
                <a:ea typeface="Arial" pitchFamily="34" charset="-122"/>
                <a:cs typeface="Arial" pitchFamily="34" charset="-120"/>
              </a:rPr>
              <a:t>risk = Σ severity × recency × verification × proximity</a:t>
            </a:r>
            <a:endParaRPr lang="en-US" sz="2200" dirty="0"/>
          </a:p>
        </p:txBody>
      </p:sp>
      <p:sp>
        <p:nvSpPr>
          <p:cNvPr id="26" name="Text 20"/>
          <p:cNvSpPr/>
          <p:nvPr/>
        </p:nvSpPr>
        <p:spPr>
          <a:xfrm>
            <a:off x="1066800" y="4379595"/>
            <a:ext cx="1036015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7DC"/>
                </a:solidFill>
                <a:latin typeface="Arial" pitchFamily="34" charset="0"/>
                <a:ea typeface="Arial" pitchFamily="34" charset="-122"/>
                <a:cs typeface="Arial" pitchFamily="34" charset="-120"/>
              </a:rPr>
              <a:t>Reported hazards near each route are scored, then scaled to 0–100. This is an estimate from reported data, not accident statistics or live road conditions.</a:t>
            </a:r>
            <a:endParaRPr lang="en-US" sz="1300" dirty="0"/>
          </a:p>
        </p:txBody>
      </p:sp>
      <p:sp>
        <p:nvSpPr>
          <p:cNvPr id="27" name="Text 21"/>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Arial" pitchFamily="34" charset="0"/>
                <a:ea typeface="Arial" pitchFamily="34" charset="-122"/>
                <a:cs typeface="Arial" pitchFamily="34" charset="-120"/>
              </a:rPr>
              <a:t>X_Coder · RoadGuardian</a:t>
            </a:r>
            <a:endParaRPr lang="en-US" sz="1200" dirty="0"/>
          </a:p>
        </p:txBody>
      </p:sp>
      <p:sp>
        <p:nvSpPr>
          <p:cNvPr id="28" name="Text 2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66A"/>
                </a:solidFill>
                <a:latin typeface="Arial" pitchFamily="34" charset="0"/>
                <a:ea typeface="Arial" pitchFamily="34" charset="-122"/>
                <a:cs typeface="Arial" pitchFamily="34" charset="-120"/>
              </a:rPr>
              <a:t>4 / 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3EC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Arial" pitchFamily="34" charset="0"/>
                <a:ea typeface="Arial" pitchFamily="34" charset="-122"/>
                <a:cs typeface="Arial" pitchFamily="34" charset="-120"/>
              </a:rPr>
              <a:t>FEASIBILITY AND VIABILITY</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1424"/>
                </a:solidFill>
                <a:latin typeface="Arial" pitchFamily="34" charset="0"/>
                <a:ea typeface="Arial" pitchFamily="34" charset="-122"/>
                <a:cs typeface="Arial" pitchFamily="34" charset="-120"/>
              </a:rPr>
              <a:t>Working prototype, honest limits</a:t>
            </a:r>
            <a:endParaRPr lang="en-US" sz="3200" dirty="0"/>
          </a:p>
        </p:txBody>
      </p:sp>
      <p:sp>
        <p:nvSpPr>
          <p:cNvPr id="4" name="Text 2"/>
          <p:cNvSpPr/>
          <p:nvPr/>
        </p:nvSpPr>
        <p:spPr>
          <a:xfrm>
            <a:off x="812800" y="1778000"/>
            <a:ext cx="10566400" cy="477520"/>
          </a:xfrm>
          <a:prstGeom prst="roundRect">
            <a:avLst>
              <a:gd name="adj" fmla="val 18617"/>
            </a:avLst>
          </a:prstGeom>
          <a:solidFill>
            <a:srgbClr val="0B1424"/>
          </a:solidFill>
          <a:ln/>
        </p:spPr>
        <p:txBody>
          <a:bodyPr wrap="square" lIns="151762" tIns="88262" rIns="0" bIns="62862" rtlCol="0" anchor="t">
            <a:normAutofit/>
          </a:bodyPr>
          <a:lstStyle/>
          <a:p>
            <a:pPr algn="l" indent="0" marL="0">
              <a:lnSpc>
                <a:spcPts val="1960"/>
              </a:lnSpc>
              <a:buNone/>
            </a:pPr>
            <a:r>
              <a:rPr lang="en-US" sz="1400" b="1" dirty="0">
                <a:solidFill>
                  <a:srgbClr val="F2F6F4"/>
                </a:solidFill>
                <a:latin typeface="Arial" pitchFamily="34" charset="0"/>
                <a:ea typeface="Arial" pitchFamily="34" charset="-122"/>
                <a:cs typeface="Arial" pitchFamily="34" charset="-120"/>
              </a:rPr>
              <a:t>Built and tested: 28 backend tests pass · real YOLO inference · data persists across restarts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468881"/>
          <a:ext cx="10556240" cy="1784350"/>
        </p:xfrm>
        <a:graphic>
          <a:graphicData uri="http://schemas.openxmlformats.org/drawingml/2006/table">
            <a:tbl>
              <a:tblPr/>
              <a:tblGrid>
                <a:gridCol w="2744622"/>
                <a:gridCol w="7811618"/>
              </a:tblGrid>
              <a:tr h="356870">
                <a:tc>
                  <a:txBody>
                    <a:bodyPr/>
                    <a:lstStyle/>
                    <a:p>
                      <a:pPr indent="0" marL="0">
                        <a:lnSpc>
                          <a:spcPts val="1820"/>
                        </a:lnSpc>
                        <a:buNone/>
                      </a:pPr>
                      <a:r>
                        <a:rPr lang="en-US" sz="1300" b="1" dirty="0">
                          <a:solidFill>
                            <a:srgbClr val="0B1424"/>
                          </a:solidFill>
                          <a:latin typeface="Arial" pitchFamily="34" charset="0"/>
                          <a:ea typeface="Arial" pitchFamily="34" charset="-122"/>
                          <a:cs typeface="Arial" pitchFamily="34" charset="-120"/>
                        </a:rPr>
                        <a:t>Risk</a:t>
                      </a:r>
                      <a:endParaRPr lang="en-US" sz="1300" dirty="0">
                        <a:latin typeface="Arial" charset="0"/>
                        <a:ea typeface="Arial" charset="0"/>
                        <a:cs typeface="Arial" charset="0"/>
                      </a:endParaRPr>
                    </a:p>
                  </a:txBody>
                  <a:tcPr marL="57785" marR="57785" marT="57785" marB="57785" anchor="t">
                    <a:lnL w="12700" cap="flat" cmpd="sng" algn="ctr">
                      <a:solidFill>
                        <a:srgbClr val="B5BCB9"/>
                      </a:solidFill>
                      <a:prstDash val="solid"/>
                      <a:round/>
                      <a:headEnd type="none" w="med" len="med"/>
                      <a:tailEnd type="none" w="med" len="med"/>
                    </a:lnL>
                    <a:lnR w="12700" cap="flat" cmpd="sng" algn="ctr">
                      <a:solidFill>
                        <a:srgbClr val="A8AFAC"/>
                      </a:solidFill>
                      <a:prstDash val="solid"/>
                      <a:round/>
                      <a:headEnd type="none" w="med" len="med"/>
                      <a:tailEnd type="none" w="med" len="med"/>
                    </a:lnR>
                    <a:lnT w="12700" cap="flat" cmpd="sng" algn="ctr">
                      <a:solidFill>
                        <a:srgbClr val="B5BCB9"/>
                      </a:solidFill>
                      <a:prstDash val="solid"/>
                      <a:round/>
                      <a:headEnd type="none" w="med" len="med"/>
                      <a:tailEnd type="none" w="med" len="med"/>
                    </a:lnT>
                    <a:lnB w="12700" cap="flat" cmpd="sng" algn="ctr">
                      <a:solidFill>
                        <a:srgbClr val="A8AFAC"/>
                      </a:solidFill>
                      <a:prstDash val="solid"/>
                      <a:round/>
                      <a:headEnd type="none" w="med" len="med"/>
                      <a:tailEnd type="none" w="med" len="med"/>
                    </a:lnB>
                    <a:solidFill>
                      <a:srgbClr val="D2DBD7"/>
                    </a:solidFill>
                  </a:tcPr>
                </a:tc>
                <a:tc>
                  <a:txBody>
                    <a:bodyPr/>
                    <a:lstStyle/>
                    <a:p>
                      <a:pPr indent="0" marL="0">
                        <a:lnSpc>
                          <a:spcPts val="1820"/>
                        </a:lnSpc>
                        <a:buNone/>
                      </a:pPr>
                      <a:r>
                        <a:rPr lang="en-US" sz="1300" b="1" dirty="0">
                          <a:solidFill>
                            <a:srgbClr val="0B1424"/>
                          </a:solidFill>
                          <a:latin typeface="Arial" pitchFamily="34" charset="0"/>
                          <a:ea typeface="Arial" pitchFamily="34" charset="-122"/>
                          <a:cs typeface="Arial" pitchFamily="34" charset="-120"/>
                        </a:rPr>
                        <a:t>Mitigation</a:t>
                      </a:r>
                      <a:endParaRPr lang="en-US" sz="1300" dirty="0">
                        <a:latin typeface="Arial" charset="0"/>
                        <a:ea typeface="Arial" charset="0"/>
                        <a:cs typeface="Arial" charset="0"/>
                      </a:endParaRPr>
                    </a:p>
                  </a:txBody>
                  <a:tcPr marL="57785" marR="57785" marT="57785" marB="57785" anchor="t">
                    <a:lnL w="12700" cap="flat" cmpd="sng" algn="ctr">
                      <a:solidFill>
                        <a:srgbClr val="A8AFAC"/>
                      </a:solidFill>
                      <a:prstDash val="solid"/>
                      <a:round/>
                      <a:headEnd type="none" w="med" len="med"/>
                      <a:tailEnd type="none" w="med" len="med"/>
                    </a:lnL>
                    <a:lnR w="12700" cap="flat" cmpd="sng" algn="ctr">
                      <a:solidFill>
                        <a:srgbClr val="A8AFAC"/>
                      </a:solidFill>
                      <a:prstDash val="solid"/>
                      <a:round/>
                      <a:headEnd type="none" w="med" len="med"/>
                      <a:tailEnd type="none" w="med" len="med"/>
                    </a:lnR>
                    <a:lnT w="12700" cap="flat" cmpd="sng" algn="ctr">
                      <a:solidFill>
                        <a:srgbClr val="B5BCB9"/>
                      </a:solidFill>
                      <a:prstDash val="solid"/>
                      <a:round/>
                      <a:headEnd type="none" w="med" len="med"/>
                      <a:tailEnd type="none" w="med" len="med"/>
                    </a:lnT>
                    <a:lnB w="12700" cap="flat" cmpd="sng" algn="ctr">
                      <a:solidFill>
                        <a:srgbClr val="A8AFAC"/>
                      </a:solidFill>
                      <a:prstDash val="solid"/>
                      <a:round/>
                      <a:headEnd type="none" w="med" len="med"/>
                      <a:tailEnd type="none" w="med" len="med"/>
                    </a:lnB>
                    <a:solidFill>
                      <a:srgbClr val="D2DBD7"/>
                    </a:solidFill>
                  </a:tcPr>
                </a:tc>
              </a:tr>
              <a:tr h="356870">
                <a:tc>
                  <a:txBody>
                    <a:bodyPr/>
                    <a:lstStyle/>
                    <a:p>
                      <a:pPr indent="0" marL="0">
                        <a:lnSpc>
                          <a:spcPts val="1820"/>
                        </a:lnSpc>
                        <a:buNone/>
                      </a:pPr>
                      <a:r>
                        <a:rPr lang="en-US" sz="1300" dirty="0">
                          <a:solidFill>
                            <a:srgbClr val="0B1424"/>
                          </a:solidFill>
                          <a:latin typeface="Arial" pitchFamily="34" charset="0"/>
                          <a:ea typeface="Arial" pitchFamily="34" charset="-122"/>
                          <a:cs typeface="Arial" pitchFamily="34" charset="-120"/>
                        </a:rPr>
                        <a:t>Data privacy</a:t>
                      </a:r>
                      <a:endParaRPr lang="en-US" sz="1300" dirty="0">
                        <a:latin typeface="Arial" charset="0"/>
                        <a:ea typeface="Arial" charset="0"/>
                        <a:cs typeface="Arial" charset="0"/>
                      </a:endParaRPr>
                    </a:p>
                  </a:txBody>
                  <a:tcPr marL="57785" marR="57785" marT="57785" marB="57785" anchor="t">
                    <a:lnL w="12700" cap="flat" cmpd="sng" algn="ctr">
                      <a:solidFill>
                        <a:srgbClr val="B5BCB9"/>
                      </a:solidFill>
                      <a:prstDash val="solid"/>
                      <a:round/>
                      <a:headEnd type="none" w="med" len="med"/>
                      <a:tailEnd type="none" w="med" len="med"/>
                    </a:lnL>
                    <a:lnR w="12700" cap="flat" cmpd="sng" algn="ctr">
                      <a:solidFill>
                        <a:srgbClr val="B5BCB9"/>
                      </a:solidFill>
                      <a:prstDash val="solid"/>
                      <a:round/>
                      <a:headEnd type="none" w="med" len="med"/>
                      <a:tailEnd type="none" w="med" len="med"/>
                    </a:lnR>
                    <a:lnT w="12700" cap="flat" cmpd="sng" algn="ctr">
                      <a:solidFill>
                        <a:srgbClr val="A8AFAC"/>
                      </a:solidFill>
                      <a:prstDash val="solid"/>
                      <a:round/>
                      <a:headEnd type="none" w="med" len="med"/>
                      <a:tailEnd type="none" w="med" len="med"/>
                    </a:lnT>
                    <a:lnB w="12700" cap="flat" cmpd="sng" algn="ctr">
                      <a:solidFill>
                        <a:srgbClr val="B5BCB9"/>
                      </a:solidFill>
                      <a:prstDash val="solid"/>
                      <a:round/>
                      <a:headEnd type="none" w="med" len="med"/>
                      <a:tailEnd type="none" w="med" len="med"/>
                    </a:lnB>
                  </a:tcPr>
                </a:tc>
                <a:tc>
                  <a:txBody>
                    <a:bodyPr/>
                    <a:lstStyle/>
                    <a:p>
                      <a:pPr indent="0" marL="0">
                        <a:lnSpc>
                          <a:spcPts val="1820"/>
                        </a:lnSpc>
                        <a:buNone/>
                      </a:pPr>
                      <a:r>
                        <a:rPr lang="en-US" sz="1300" dirty="0">
                          <a:solidFill>
                            <a:srgbClr val="0B1424"/>
                          </a:solidFill>
                          <a:latin typeface="Arial" pitchFamily="34" charset="0"/>
                          <a:ea typeface="Arial" pitchFamily="34" charset="-122"/>
                          <a:cs typeface="Arial" pitchFamily="34" charset="-120"/>
                        </a:rPr>
                        <a:t>Photo location data stripped on upload; random file names; no personal accounts collected</a:t>
                      </a:r>
                      <a:endParaRPr lang="en-US" sz="1300" dirty="0">
                        <a:latin typeface="Arial" charset="0"/>
                        <a:ea typeface="Arial" charset="0"/>
                        <a:cs typeface="Arial" charset="0"/>
                      </a:endParaRPr>
                    </a:p>
                  </a:txBody>
                  <a:tcPr marL="57785" marR="57785" marT="57785" marB="57785" anchor="t">
                    <a:lnL w="12700" cap="flat" cmpd="sng" algn="ctr">
                      <a:solidFill>
                        <a:srgbClr val="B5BCB9"/>
                      </a:solidFill>
                      <a:prstDash val="solid"/>
                      <a:round/>
                      <a:headEnd type="none" w="med" len="med"/>
                      <a:tailEnd type="none" w="med" len="med"/>
                    </a:lnL>
                    <a:lnR w="12700" cap="flat" cmpd="sng" algn="ctr">
                      <a:solidFill>
                        <a:srgbClr val="B5BCB9"/>
                      </a:solidFill>
                      <a:prstDash val="solid"/>
                      <a:round/>
                      <a:headEnd type="none" w="med" len="med"/>
                      <a:tailEnd type="none" w="med" len="med"/>
                    </a:lnR>
                    <a:lnT w="12700" cap="flat" cmpd="sng" algn="ctr">
                      <a:solidFill>
                        <a:srgbClr val="A8AFAC"/>
                      </a:solidFill>
                      <a:prstDash val="solid"/>
                      <a:round/>
                      <a:headEnd type="none" w="med" len="med"/>
                      <a:tailEnd type="none" w="med" len="med"/>
                    </a:lnT>
                    <a:lnB w="12700" cap="flat" cmpd="sng" algn="ctr">
                      <a:solidFill>
                        <a:srgbClr val="B5BCB9"/>
                      </a:solidFill>
                      <a:prstDash val="solid"/>
                      <a:round/>
                      <a:headEnd type="none" w="med" len="med"/>
                      <a:tailEnd type="none" w="med" len="med"/>
                    </a:lnB>
                  </a:tcPr>
                </a:tc>
              </a:tr>
              <a:tr h="356870">
                <a:tc>
                  <a:txBody>
                    <a:bodyPr/>
                    <a:lstStyle/>
                    <a:p>
                      <a:pPr indent="0" marL="0">
                        <a:lnSpc>
                          <a:spcPts val="1820"/>
                        </a:lnSpc>
                        <a:buNone/>
                      </a:pPr>
                      <a:r>
                        <a:rPr lang="en-US" sz="1300" dirty="0">
                          <a:solidFill>
                            <a:srgbClr val="0B1424"/>
                          </a:solidFill>
                          <a:latin typeface="Arial" pitchFamily="34" charset="0"/>
                          <a:ea typeface="Arial" pitchFamily="34" charset="-122"/>
                          <a:cs typeface="Arial" pitchFamily="34" charset="-120"/>
                        </a:rPr>
                        <a:t>AI mistakes</a:t>
                      </a:r>
                      <a:endParaRPr lang="en-US" sz="1300" dirty="0">
                        <a:latin typeface="Arial" charset="0"/>
                        <a:ea typeface="Arial" charset="0"/>
                        <a:cs typeface="Arial" charset="0"/>
                      </a:endParaRPr>
                    </a:p>
                  </a:txBody>
                  <a:tcPr marL="57785" marR="57785" marT="57785" marB="57785" anchor="t">
                    <a:lnL w="12700" cap="flat" cmpd="sng" algn="ctr">
                      <a:solidFill>
                        <a:srgbClr val="B5BCB9"/>
                      </a:solidFill>
                      <a:prstDash val="solid"/>
                      <a:round/>
                      <a:headEnd type="none" w="med" len="med"/>
                      <a:tailEnd type="none" w="med" len="med"/>
                    </a:lnL>
                    <a:lnR w="12700" cap="flat" cmpd="sng" algn="ctr">
                      <a:solidFill>
                        <a:srgbClr val="B5BCB9"/>
                      </a:solidFill>
                      <a:prstDash val="solid"/>
                      <a:round/>
                      <a:headEnd type="none" w="med" len="med"/>
                      <a:tailEnd type="none" w="med" len="med"/>
                    </a:lnR>
                    <a:lnT w="12700" cap="flat" cmpd="sng" algn="ctr">
                      <a:solidFill>
                        <a:srgbClr val="B5BCB9"/>
                      </a:solidFill>
                      <a:prstDash val="solid"/>
                      <a:round/>
                      <a:headEnd type="none" w="med" len="med"/>
                      <a:tailEnd type="none" w="med" len="med"/>
                    </a:lnT>
                    <a:lnB w="12700" cap="flat" cmpd="sng" algn="ctr">
                      <a:solidFill>
                        <a:srgbClr val="B5BCB9"/>
                      </a:solidFill>
                      <a:prstDash val="solid"/>
                      <a:round/>
                      <a:headEnd type="none" w="med" len="med"/>
                      <a:tailEnd type="none" w="med" len="med"/>
                    </a:lnB>
                  </a:tcPr>
                </a:tc>
                <a:tc>
                  <a:txBody>
                    <a:bodyPr/>
                    <a:lstStyle/>
                    <a:p>
                      <a:pPr indent="0" marL="0">
                        <a:lnSpc>
                          <a:spcPts val="1820"/>
                        </a:lnSpc>
                        <a:buNone/>
                      </a:pPr>
                      <a:r>
                        <a:rPr lang="en-US" sz="1300" dirty="0">
                          <a:solidFill>
                            <a:srgbClr val="0B1424"/>
                          </a:solidFill>
                          <a:latin typeface="Arial" pitchFamily="34" charset="0"/>
                          <a:ea typeface="Arial" pitchFamily="34" charset="-122"/>
                          <a:cs typeface="Arial" pitchFamily="34" charset="-120"/>
                        </a:rPr>
                        <a:t>User reviews and can override; clear AI-unavailable state; no accuracy claims made</a:t>
                      </a:r>
                      <a:endParaRPr lang="en-US" sz="1300" dirty="0">
                        <a:latin typeface="Arial" charset="0"/>
                        <a:ea typeface="Arial" charset="0"/>
                        <a:cs typeface="Arial" charset="0"/>
                      </a:endParaRPr>
                    </a:p>
                  </a:txBody>
                  <a:tcPr marL="57785" marR="57785" marT="57785" marB="57785" anchor="t">
                    <a:lnL w="12700" cap="flat" cmpd="sng" algn="ctr">
                      <a:solidFill>
                        <a:srgbClr val="B5BCB9"/>
                      </a:solidFill>
                      <a:prstDash val="solid"/>
                      <a:round/>
                      <a:headEnd type="none" w="med" len="med"/>
                      <a:tailEnd type="none" w="med" len="med"/>
                    </a:lnL>
                    <a:lnR w="12700" cap="flat" cmpd="sng" algn="ctr">
                      <a:solidFill>
                        <a:srgbClr val="B5BCB9"/>
                      </a:solidFill>
                      <a:prstDash val="solid"/>
                      <a:round/>
                      <a:headEnd type="none" w="med" len="med"/>
                      <a:tailEnd type="none" w="med" len="med"/>
                    </a:lnR>
                    <a:lnT w="12700" cap="flat" cmpd="sng" algn="ctr">
                      <a:solidFill>
                        <a:srgbClr val="B5BCB9"/>
                      </a:solidFill>
                      <a:prstDash val="solid"/>
                      <a:round/>
                      <a:headEnd type="none" w="med" len="med"/>
                      <a:tailEnd type="none" w="med" len="med"/>
                    </a:lnT>
                    <a:lnB w="12700" cap="flat" cmpd="sng" algn="ctr">
                      <a:solidFill>
                        <a:srgbClr val="B5BCB9"/>
                      </a:solidFill>
                      <a:prstDash val="solid"/>
                      <a:round/>
                      <a:headEnd type="none" w="med" len="med"/>
                      <a:tailEnd type="none" w="med" len="med"/>
                    </a:lnB>
                  </a:tcPr>
                </a:tc>
              </a:tr>
              <a:tr h="356870">
                <a:tc>
                  <a:txBody>
                    <a:bodyPr/>
                    <a:lstStyle/>
                    <a:p>
                      <a:pPr indent="0" marL="0">
                        <a:lnSpc>
                          <a:spcPts val="1820"/>
                        </a:lnSpc>
                        <a:buNone/>
                      </a:pPr>
                      <a:r>
                        <a:rPr lang="en-US" sz="1300" dirty="0">
                          <a:solidFill>
                            <a:srgbClr val="0B1424"/>
                          </a:solidFill>
                          <a:latin typeface="Arial" pitchFamily="34" charset="0"/>
                          <a:ea typeface="Arial" pitchFamily="34" charset="-122"/>
                          <a:cs typeface="Arial" pitchFamily="34" charset="-120"/>
                        </a:rPr>
                        <a:t>False reports</a:t>
                      </a:r>
                      <a:endParaRPr lang="en-US" sz="1300" dirty="0">
                        <a:latin typeface="Arial" charset="0"/>
                        <a:ea typeface="Arial" charset="0"/>
                        <a:cs typeface="Arial" charset="0"/>
                      </a:endParaRPr>
                    </a:p>
                  </a:txBody>
                  <a:tcPr marL="57785" marR="57785" marT="57785" marB="57785" anchor="t">
                    <a:lnL w="12700" cap="flat" cmpd="sng" algn="ctr">
                      <a:solidFill>
                        <a:srgbClr val="B5BCB9"/>
                      </a:solidFill>
                      <a:prstDash val="solid"/>
                      <a:round/>
                      <a:headEnd type="none" w="med" len="med"/>
                      <a:tailEnd type="none" w="med" len="med"/>
                    </a:lnL>
                    <a:lnR w="12700" cap="flat" cmpd="sng" algn="ctr">
                      <a:solidFill>
                        <a:srgbClr val="B5BCB9"/>
                      </a:solidFill>
                      <a:prstDash val="solid"/>
                      <a:round/>
                      <a:headEnd type="none" w="med" len="med"/>
                      <a:tailEnd type="none" w="med" len="med"/>
                    </a:lnR>
                    <a:lnT w="12700" cap="flat" cmpd="sng" algn="ctr">
                      <a:solidFill>
                        <a:srgbClr val="B5BCB9"/>
                      </a:solidFill>
                      <a:prstDash val="solid"/>
                      <a:round/>
                      <a:headEnd type="none" w="med" len="med"/>
                      <a:tailEnd type="none" w="med" len="med"/>
                    </a:lnT>
                    <a:lnB w="12700" cap="flat" cmpd="sng" algn="ctr">
                      <a:solidFill>
                        <a:srgbClr val="B5BCB9"/>
                      </a:solidFill>
                      <a:prstDash val="solid"/>
                      <a:round/>
                      <a:headEnd type="none" w="med" len="med"/>
                      <a:tailEnd type="none" w="med" len="med"/>
                    </a:lnB>
                  </a:tcPr>
                </a:tc>
                <a:tc>
                  <a:txBody>
                    <a:bodyPr/>
                    <a:lstStyle/>
                    <a:p>
                      <a:pPr indent="0" marL="0">
                        <a:lnSpc>
                          <a:spcPts val="1820"/>
                        </a:lnSpc>
                        <a:buNone/>
                      </a:pPr>
                      <a:r>
                        <a:rPr lang="en-US" sz="1300" dirty="0">
                          <a:solidFill>
                            <a:srgbClr val="0B1424"/>
                          </a:solidFill>
                          <a:latin typeface="Arial" pitchFamily="34" charset="0"/>
                          <a:ea typeface="Arial" pitchFamily="34" charset="-122"/>
                          <a:cs typeface="Arial" pitchFamily="34" charset="-120"/>
                        </a:rPr>
                        <a:t>Community confirm or flag, one vote each; authority review (admin is a token demo for now)</a:t>
                      </a:r>
                      <a:endParaRPr lang="en-US" sz="1300" dirty="0">
                        <a:latin typeface="Arial" charset="0"/>
                        <a:ea typeface="Arial" charset="0"/>
                        <a:cs typeface="Arial" charset="0"/>
                      </a:endParaRPr>
                    </a:p>
                  </a:txBody>
                  <a:tcPr marL="57785" marR="57785" marT="57785" marB="57785" anchor="t">
                    <a:lnL w="12700" cap="flat" cmpd="sng" algn="ctr">
                      <a:solidFill>
                        <a:srgbClr val="B5BCB9"/>
                      </a:solidFill>
                      <a:prstDash val="solid"/>
                      <a:round/>
                      <a:headEnd type="none" w="med" len="med"/>
                      <a:tailEnd type="none" w="med" len="med"/>
                    </a:lnL>
                    <a:lnR w="12700" cap="flat" cmpd="sng" algn="ctr">
                      <a:solidFill>
                        <a:srgbClr val="B5BCB9"/>
                      </a:solidFill>
                      <a:prstDash val="solid"/>
                      <a:round/>
                      <a:headEnd type="none" w="med" len="med"/>
                      <a:tailEnd type="none" w="med" len="med"/>
                    </a:lnR>
                    <a:lnT w="12700" cap="flat" cmpd="sng" algn="ctr">
                      <a:solidFill>
                        <a:srgbClr val="B5BCB9"/>
                      </a:solidFill>
                      <a:prstDash val="solid"/>
                      <a:round/>
                      <a:headEnd type="none" w="med" len="med"/>
                      <a:tailEnd type="none" w="med" len="med"/>
                    </a:lnT>
                    <a:lnB w="12700" cap="flat" cmpd="sng" algn="ctr">
                      <a:solidFill>
                        <a:srgbClr val="B5BCB9"/>
                      </a:solidFill>
                      <a:prstDash val="solid"/>
                      <a:round/>
                      <a:headEnd type="none" w="med" len="med"/>
                      <a:tailEnd type="none" w="med" len="med"/>
                    </a:lnB>
                  </a:tcPr>
                </a:tc>
              </a:tr>
              <a:tr h="356870">
                <a:tc>
                  <a:txBody>
                    <a:bodyPr/>
                    <a:lstStyle/>
                    <a:p>
                      <a:pPr indent="0" marL="0">
                        <a:lnSpc>
                          <a:spcPts val="1820"/>
                        </a:lnSpc>
                        <a:buNone/>
                      </a:pPr>
                      <a:r>
                        <a:rPr lang="en-US" sz="1300" dirty="0">
                          <a:solidFill>
                            <a:srgbClr val="0B1424"/>
                          </a:solidFill>
                          <a:latin typeface="Arial" pitchFamily="34" charset="0"/>
                          <a:ea typeface="Arial" pitchFamily="34" charset="-122"/>
                          <a:cs typeface="Arial" pitchFamily="34" charset="-120"/>
                        </a:rPr>
                        <a:t>Network limits</a:t>
                      </a:r>
                      <a:endParaRPr lang="en-US" sz="1300" dirty="0">
                        <a:latin typeface="Arial" charset="0"/>
                        <a:ea typeface="Arial" charset="0"/>
                        <a:cs typeface="Arial" charset="0"/>
                      </a:endParaRPr>
                    </a:p>
                  </a:txBody>
                  <a:tcPr marL="57785" marR="57785" marT="57785" marB="57785" anchor="t">
                    <a:lnL w="12700" cap="flat" cmpd="sng" algn="ctr">
                      <a:solidFill>
                        <a:srgbClr val="B5BCB9"/>
                      </a:solidFill>
                      <a:prstDash val="solid"/>
                      <a:round/>
                      <a:headEnd type="none" w="med" len="med"/>
                      <a:tailEnd type="none" w="med" len="med"/>
                    </a:lnL>
                    <a:lnR w="12700" cap="flat" cmpd="sng" algn="ctr">
                      <a:solidFill>
                        <a:srgbClr val="B5BCB9"/>
                      </a:solidFill>
                      <a:prstDash val="solid"/>
                      <a:round/>
                      <a:headEnd type="none" w="med" len="med"/>
                      <a:tailEnd type="none" w="med" len="med"/>
                    </a:lnR>
                    <a:lnT w="12700" cap="flat" cmpd="sng" algn="ctr">
                      <a:solidFill>
                        <a:srgbClr val="B5BCB9"/>
                      </a:solidFill>
                      <a:prstDash val="solid"/>
                      <a:round/>
                      <a:headEnd type="none" w="med" len="med"/>
                      <a:tailEnd type="none" w="med" len="med"/>
                    </a:lnT>
                    <a:lnB w="12700" cap="flat" cmpd="sng" algn="ctr">
                      <a:solidFill>
                        <a:srgbClr val="B5BCB9"/>
                      </a:solidFill>
                      <a:prstDash val="solid"/>
                      <a:round/>
                      <a:headEnd type="none" w="med" len="med"/>
                      <a:tailEnd type="none" w="med" len="med"/>
                    </a:lnB>
                  </a:tcPr>
                </a:tc>
                <a:tc>
                  <a:txBody>
                    <a:bodyPr/>
                    <a:lstStyle/>
                    <a:p>
                      <a:pPr indent="0" marL="0">
                        <a:lnSpc>
                          <a:spcPts val="1820"/>
                        </a:lnSpc>
                        <a:buNone/>
                      </a:pPr>
                      <a:r>
                        <a:rPr lang="en-US" sz="1300" dirty="0">
                          <a:solidFill>
                            <a:srgbClr val="0B1424"/>
                          </a:solidFill>
                          <a:latin typeface="Arial" pitchFamily="34" charset="0"/>
                          <a:ea typeface="Arial" pitchFamily="34" charset="-122"/>
                          <a:cs typeface="Arial" pitchFamily="34" charset="-120"/>
                        </a:rPr>
                        <a:t>Clear message if routing is down; replaceable routing adapter; self-hostable OSRM</a:t>
                      </a:r>
                      <a:endParaRPr lang="en-US" sz="1300" dirty="0">
                        <a:latin typeface="Arial" charset="0"/>
                        <a:ea typeface="Arial" charset="0"/>
                        <a:cs typeface="Arial" charset="0"/>
                      </a:endParaRPr>
                    </a:p>
                  </a:txBody>
                  <a:tcPr marL="57785" marR="57785" marT="57785" marB="57785" anchor="t">
                    <a:lnL w="12700" cap="flat" cmpd="sng" algn="ctr">
                      <a:solidFill>
                        <a:srgbClr val="B5BCB9"/>
                      </a:solidFill>
                      <a:prstDash val="solid"/>
                      <a:round/>
                      <a:headEnd type="none" w="med" len="med"/>
                      <a:tailEnd type="none" w="med" len="med"/>
                    </a:lnL>
                    <a:lnR w="12700" cap="flat" cmpd="sng" algn="ctr">
                      <a:solidFill>
                        <a:srgbClr val="B5BCB9"/>
                      </a:solidFill>
                      <a:prstDash val="solid"/>
                      <a:round/>
                      <a:headEnd type="none" w="med" len="med"/>
                      <a:tailEnd type="none" w="med" len="med"/>
                    </a:lnR>
                    <a:lnT w="12700" cap="flat" cmpd="sng" algn="ctr">
                      <a:solidFill>
                        <a:srgbClr val="B5BCB9"/>
                      </a:solidFill>
                      <a:prstDash val="solid"/>
                      <a:round/>
                      <a:headEnd type="none" w="med" len="med"/>
                      <a:tailEnd type="none" w="med" len="med"/>
                    </a:lnT>
                    <a:lnB w="12700" cap="flat" cmpd="sng" algn="ctr">
                      <a:solidFill>
                        <a:srgbClr val="B5BCB9"/>
                      </a:solidFill>
                      <a:prstDash val="solid"/>
                      <a:round/>
                      <a:headEnd type="none" w="med" len="med"/>
                      <a:tailEnd type="none" w="med" len="med"/>
                    </a:lnB>
                  </a:tcPr>
                </a:tc>
              </a:tr>
            </a:tbl>
          </a:graphicData>
        </a:graphic>
      </p:graphicFrame>
      <p:sp>
        <p:nvSpPr>
          <p:cNvPr id="6" name="Text 3"/>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Arial" pitchFamily="34" charset="0"/>
                <a:ea typeface="Arial" pitchFamily="34" charset="-122"/>
                <a:cs typeface="Arial" pitchFamily="34" charset="-120"/>
              </a:rPr>
              <a:t>X_Coder · RoadGuardian</a:t>
            </a:r>
            <a:endParaRPr lang="en-US" sz="1200" dirty="0"/>
          </a:p>
        </p:txBody>
      </p:sp>
      <p:sp>
        <p:nvSpPr>
          <p:cNvPr id="7" name="Text 4"/>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66A"/>
                </a:solidFill>
                <a:latin typeface="Arial" pitchFamily="34" charset="0"/>
                <a:ea typeface="Arial" pitchFamily="34" charset="-122"/>
                <a:cs typeface="Arial" pitchFamily="34" charset="-120"/>
              </a:rPr>
              <a:t>5 / 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4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DD4BF"/>
                </a:solidFill>
                <a:latin typeface="Arial" pitchFamily="34" charset="0"/>
                <a:ea typeface="Arial" pitchFamily="34" charset="-122"/>
                <a:cs typeface="Arial" pitchFamily="34" charset="-120"/>
              </a:rPr>
              <a:t>IMPACT AND BENEFITS</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2F6F4"/>
                </a:solidFill>
                <a:latin typeface="Arial" pitchFamily="34" charset="0"/>
                <a:ea typeface="Arial" pitchFamily="34" charset="-122"/>
                <a:cs typeface="Arial" pitchFamily="34" charset="-120"/>
              </a:rPr>
              <a:t>Who gains, and why it is affordable</a:t>
            </a:r>
            <a:endParaRPr lang="en-US" sz="3200" dirty="0"/>
          </a:p>
        </p:txBody>
      </p:sp>
      <p:sp>
        <p:nvSpPr>
          <p:cNvPr id="4" name="Shape 2"/>
          <p:cNvSpPr/>
          <p:nvPr/>
        </p:nvSpPr>
        <p:spPr>
          <a:xfrm>
            <a:off x="815975" y="1781175"/>
            <a:ext cx="5200650" cy="1480820"/>
          </a:xfrm>
          <a:prstGeom prst="roundRect">
            <a:avLst>
              <a:gd name="adj" fmla="val 8362"/>
            </a:avLst>
          </a:prstGeom>
          <a:solidFill>
            <a:srgbClr val="14233D"/>
          </a:solidFill>
          <a:ln w="6350">
            <a:solidFill>
              <a:srgbClr val="24385A"/>
            </a:solidFill>
            <a:prstDash val="solid"/>
          </a:ln>
        </p:spPr>
      </p:sp>
      <p:sp>
        <p:nvSpPr>
          <p:cNvPr id="5" name="Text 3"/>
          <p:cNvSpPr/>
          <p:nvPr/>
        </p:nvSpPr>
        <p:spPr>
          <a:xfrm>
            <a:off x="1021080" y="1986282"/>
            <a:ext cx="493415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DD4BF"/>
                </a:solidFill>
                <a:latin typeface="Arial" pitchFamily="34" charset="0"/>
                <a:ea typeface="Arial" pitchFamily="34" charset="-122"/>
                <a:cs typeface="Arial" pitchFamily="34" charset="-120"/>
              </a:rPr>
              <a:t>Target audience</a:t>
            </a:r>
            <a:endParaRPr lang="en-US" sz="1800" dirty="0"/>
          </a:p>
        </p:txBody>
      </p:sp>
      <p:sp>
        <p:nvSpPr>
          <p:cNvPr id="6" name="Text 4"/>
          <p:cNvSpPr/>
          <p:nvPr/>
        </p:nvSpPr>
        <p:spPr>
          <a:xfrm>
            <a:off x="1118362" y="2336800"/>
            <a:ext cx="4829251" cy="745490"/>
          </a:xfrm>
          <a:prstGeom prst="rect">
            <a:avLst/>
          </a:prstGeom>
          <a:noFill/>
          <a:ln/>
        </p:spPr>
        <p:txBody>
          <a:bodyPr wrap="square" lIns="0" tIns="0" rIns="0" bIns="0" rtlCol="0" anchor="t">
            <a:normAutofit/>
          </a:bodyPr>
          <a:lstStyle/>
          <a:p>
            <a:pPr algn="l" marL="156718" indent="-156718">
              <a:lnSpc>
                <a:spcPts val="1890"/>
              </a:lnSpc>
              <a:buSzPct val="100000"/>
              <a:buChar char="•"/>
            </a:pPr>
            <a:r>
              <a:rPr lang="en-US" sz="1400" dirty="0">
                <a:solidFill>
                  <a:srgbClr val="F2F6F4"/>
                </a:solidFill>
                <a:latin typeface="Arial" pitchFamily="34" charset="0"/>
                <a:ea typeface="Arial" pitchFamily="34" charset="-122"/>
                <a:cs typeface="Arial" pitchFamily="34" charset="-120"/>
              </a:rPr>
              <a:t>Everyday drivers, riders and commuters</a:t>
            </a:r>
            <a:endParaRPr lang="en-US" sz="1400" dirty="0"/>
          </a:p>
          <a:p>
            <a:pPr algn="l" marL="156718" indent="-156718">
              <a:lnSpc>
                <a:spcPts val="1890"/>
              </a:lnSpc>
              <a:buSzPct val="100000"/>
              <a:buChar char="•"/>
            </a:pPr>
            <a:r>
              <a:rPr lang="en-US" sz="1400" dirty="0">
                <a:solidFill>
                  <a:srgbClr val="F2F6F4"/>
                </a:solidFill>
                <a:latin typeface="Arial" pitchFamily="34" charset="0"/>
                <a:ea typeface="Arial" pitchFamily="34" charset="-122"/>
                <a:cs typeface="Arial" pitchFamily="34" charset="-120"/>
              </a:rPr>
              <a:t>City and road-maintenance authorities</a:t>
            </a:r>
            <a:endParaRPr lang="en-US" sz="1400" dirty="0"/>
          </a:p>
          <a:p>
            <a:pPr algn="l" marL="156718" indent="-156718">
              <a:lnSpc>
                <a:spcPts val="1890"/>
              </a:lnSpc>
              <a:buSzPct val="100000"/>
              <a:buChar char="•"/>
            </a:pPr>
            <a:r>
              <a:rPr lang="en-US" sz="1400" dirty="0">
                <a:solidFill>
                  <a:srgbClr val="F2F6F4"/>
                </a:solidFill>
                <a:latin typeface="Arial" pitchFamily="34" charset="0"/>
                <a:ea typeface="Arial" pitchFamily="34" charset="-122"/>
                <a:cs typeface="Arial" pitchFamily="34" charset="-120"/>
              </a:rPr>
              <a:t>Delivery and fleet operators</a:t>
            </a:r>
            <a:endParaRPr lang="en-US" sz="1400" dirty="0"/>
          </a:p>
        </p:txBody>
      </p:sp>
      <p:sp>
        <p:nvSpPr>
          <p:cNvPr id="7" name="Shape 5"/>
          <p:cNvSpPr/>
          <p:nvPr/>
        </p:nvSpPr>
        <p:spPr>
          <a:xfrm>
            <a:off x="6175375" y="1781175"/>
            <a:ext cx="5200650" cy="1480820"/>
          </a:xfrm>
          <a:prstGeom prst="roundRect">
            <a:avLst>
              <a:gd name="adj" fmla="val 8362"/>
            </a:avLst>
          </a:prstGeom>
          <a:solidFill>
            <a:srgbClr val="14233D"/>
          </a:solidFill>
          <a:ln w="6350">
            <a:solidFill>
              <a:srgbClr val="24385A"/>
            </a:solidFill>
            <a:prstDash val="solid"/>
          </a:ln>
        </p:spPr>
      </p:sp>
      <p:sp>
        <p:nvSpPr>
          <p:cNvPr id="8" name="Text 6"/>
          <p:cNvSpPr/>
          <p:nvPr/>
        </p:nvSpPr>
        <p:spPr>
          <a:xfrm>
            <a:off x="6380480" y="1986282"/>
            <a:ext cx="493415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DD4BF"/>
                </a:solidFill>
                <a:latin typeface="Arial" pitchFamily="34" charset="0"/>
                <a:ea typeface="Arial" pitchFamily="34" charset="-122"/>
                <a:cs typeface="Arial" pitchFamily="34" charset="-120"/>
              </a:rPr>
              <a:t>Scale of impact</a:t>
            </a:r>
            <a:endParaRPr lang="en-US" sz="1800" dirty="0"/>
          </a:p>
        </p:txBody>
      </p:sp>
      <p:sp>
        <p:nvSpPr>
          <p:cNvPr id="9" name="Text 7"/>
          <p:cNvSpPr/>
          <p:nvPr/>
        </p:nvSpPr>
        <p:spPr>
          <a:xfrm>
            <a:off x="6477762" y="2336800"/>
            <a:ext cx="4829251" cy="745490"/>
          </a:xfrm>
          <a:prstGeom prst="rect">
            <a:avLst/>
          </a:prstGeom>
          <a:noFill/>
          <a:ln/>
        </p:spPr>
        <p:txBody>
          <a:bodyPr wrap="square" lIns="0" tIns="0" rIns="0" bIns="0" rtlCol="0" anchor="t">
            <a:normAutofit/>
          </a:bodyPr>
          <a:lstStyle/>
          <a:p>
            <a:pPr algn="l" marL="156718" indent="-156718">
              <a:lnSpc>
                <a:spcPts val="1890"/>
              </a:lnSpc>
              <a:buSzPct val="100000"/>
              <a:buChar char="•"/>
            </a:pPr>
            <a:r>
              <a:rPr lang="en-US" sz="1400" dirty="0">
                <a:solidFill>
                  <a:srgbClr val="F2F6F4"/>
                </a:solidFill>
                <a:latin typeface="Arial" pitchFamily="34" charset="0"/>
                <a:ea typeface="Arial" pitchFamily="34" charset="-122"/>
                <a:cs typeface="Arial" pitchFamily="34" charset="-120"/>
              </a:rPr>
              <a:t>Works for any city: add the area, reports grow</a:t>
            </a:r>
            <a:endParaRPr lang="en-US" sz="1400" dirty="0"/>
          </a:p>
          <a:p>
            <a:pPr algn="l" marL="156718" indent="-156718">
              <a:lnSpc>
                <a:spcPts val="1890"/>
              </a:lnSpc>
              <a:buSzPct val="100000"/>
              <a:buChar char="•"/>
            </a:pPr>
            <a:r>
              <a:rPr lang="en-US" sz="1400" dirty="0">
                <a:solidFill>
                  <a:srgbClr val="F2F6F4"/>
                </a:solidFill>
                <a:latin typeface="Arial" pitchFamily="34" charset="0"/>
                <a:ea typeface="Arial" pitchFamily="34" charset="-122"/>
                <a:cs typeface="Arial" pitchFamily="34" charset="-120"/>
              </a:rPr>
              <a:t>Each report helps every later route choice</a:t>
            </a:r>
            <a:endParaRPr lang="en-US" sz="1400" dirty="0"/>
          </a:p>
          <a:p>
            <a:pPr algn="l" marL="156718" indent="-156718">
              <a:lnSpc>
                <a:spcPts val="1890"/>
              </a:lnSpc>
              <a:buSzPct val="100000"/>
              <a:buChar char="•"/>
            </a:pPr>
            <a:r>
              <a:rPr lang="en-US" sz="1400" dirty="0">
                <a:solidFill>
                  <a:srgbClr val="F2F6F4"/>
                </a:solidFill>
                <a:latin typeface="Arial" pitchFamily="34" charset="0"/>
                <a:ea typeface="Arial" pitchFamily="34" charset="-122"/>
                <a:cs typeface="Arial" pitchFamily="34" charset="-120"/>
              </a:rPr>
              <a:t>Routing and database can be swapped as it grows</a:t>
            </a:r>
            <a:endParaRPr lang="en-US" sz="1400" dirty="0"/>
          </a:p>
        </p:txBody>
      </p:sp>
      <p:sp>
        <p:nvSpPr>
          <p:cNvPr id="10" name="Shape 8"/>
          <p:cNvSpPr/>
          <p:nvPr/>
        </p:nvSpPr>
        <p:spPr>
          <a:xfrm>
            <a:off x="815975" y="3420746"/>
            <a:ext cx="5200650" cy="1480820"/>
          </a:xfrm>
          <a:prstGeom prst="roundRect">
            <a:avLst>
              <a:gd name="adj" fmla="val 8362"/>
            </a:avLst>
          </a:prstGeom>
          <a:solidFill>
            <a:srgbClr val="14233D"/>
          </a:solidFill>
          <a:ln w="6350">
            <a:solidFill>
              <a:srgbClr val="24385A"/>
            </a:solidFill>
            <a:prstDash val="solid"/>
          </a:ln>
        </p:spPr>
      </p:sp>
      <p:sp>
        <p:nvSpPr>
          <p:cNvPr id="11" name="Text 9"/>
          <p:cNvSpPr/>
          <p:nvPr/>
        </p:nvSpPr>
        <p:spPr>
          <a:xfrm>
            <a:off x="1021080" y="3625850"/>
            <a:ext cx="493415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DD4BF"/>
                </a:solidFill>
                <a:latin typeface="Arial" pitchFamily="34" charset="0"/>
                <a:ea typeface="Arial" pitchFamily="34" charset="-122"/>
                <a:cs typeface="Arial" pitchFamily="34" charset="-120"/>
              </a:rPr>
              <a:t>Cost-effectiveness</a:t>
            </a:r>
            <a:endParaRPr lang="en-US" sz="1800" dirty="0"/>
          </a:p>
        </p:txBody>
      </p:sp>
      <p:sp>
        <p:nvSpPr>
          <p:cNvPr id="12" name="Text 10"/>
          <p:cNvSpPr/>
          <p:nvPr/>
        </p:nvSpPr>
        <p:spPr>
          <a:xfrm>
            <a:off x="1118362" y="3976371"/>
            <a:ext cx="4829251" cy="745490"/>
          </a:xfrm>
          <a:prstGeom prst="rect">
            <a:avLst/>
          </a:prstGeom>
          <a:noFill/>
          <a:ln/>
        </p:spPr>
        <p:txBody>
          <a:bodyPr wrap="square" lIns="0" tIns="0" rIns="0" bIns="0" rtlCol="0" anchor="t">
            <a:normAutofit/>
          </a:bodyPr>
          <a:lstStyle/>
          <a:p>
            <a:pPr algn="l" marL="156718" indent="-156718">
              <a:lnSpc>
                <a:spcPts val="1890"/>
              </a:lnSpc>
              <a:buSzPct val="100000"/>
              <a:buChar char="•"/>
            </a:pPr>
            <a:r>
              <a:rPr lang="en-US" sz="1400" dirty="0">
                <a:solidFill>
                  <a:srgbClr val="F2F6F4"/>
                </a:solidFill>
                <a:latin typeface="Arial" pitchFamily="34" charset="0"/>
                <a:ea typeface="Arial" pitchFamily="34" charset="-122"/>
                <a:cs typeface="Arial" pitchFamily="34" charset="-120"/>
              </a:rPr>
              <a:t>Open-source stack, no per-seat licences</a:t>
            </a:r>
            <a:endParaRPr lang="en-US" sz="1400" dirty="0"/>
          </a:p>
          <a:p>
            <a:pPr algn="l" marL="156718" indent="-156718">
              <a:lnSpc>
                <a:spcPts val="1890"/>
              </a:lnSpc>
              <a:buSzPct val="100000"/>
              <a:buChar char="•"/>
            </a:pPr>
            <a:r>
              <a:rPr lang="en-US" sz="1400" dirty="0">
                <a:solidFill>
                  <a:srgbClr val="F2F6F4"/>
                </a:solidFill>
                <a:latin typeface="Arial" pitchFamily="34" charset="0"/>
                <a:ea typeface="Arial" pitchFamily="34" charset="-122"/>
                <a:cs typeface="Arial" pitchFamily="34" charset="-120"/>
              </a:rPr>
              <a:t>Crowdsourced reports, no roadside sensors</a:t>
            </a:r>
            <a:endParaRPr lang="en-US" sz="1400" dirty="0"/>
          </a:p>
          <a:p>
            <a:pPr algn="l" marL="156718" indent="-156718">
              <a:lnSpc>
                <a:spcPts val="1890"/>
              </a:lnSpc>
              <a:buSzPct val="100000"/>
              <a:buChar char="•"/>
            </a:pPr>
            <a:r>
              <a:rPr lang="en-US" sz="1400" dirty="0">
                <a:solidFill>
                  <a:srgbClr val="F2F6F4"/>
                </a:solidFill>
                <a:latin typeface="Arial" pitchFamily="34" charset="0"/>
                <a:ea typeface="Arial" pitchFamily="34" charset="-122"/>
                <a:cs typeface="Arial" pitchFamily="34" charset="-120"/>
              </a:rPr>
              <a:t>Light enough to demo on a single laptop</a:t>
            </a:r>
            <a:endParaRPr lang="en-US" sz="1400" dirty="0"/>
          </a:p>
        </p:txBody>
      </p:sp>
      <p:sp>
        <p:nvSpPr>
          <p:cNvPr id="13" name="Shape 11"/>
          <p:cNvSpPr/>
          <p:nvPr/>
        </p:nvSpPr>
        <p:spPr>
          <a:xfrm>
            <a:off x="6175375" y="3420746"/>
            <a:ext cx="5200650" cy="1480820"/>
          </a:xfrm>
          <a:prstGeom prst="roundRect">
            <a:avLst>
              <a:gd name="adj" fmla="val 8362"/>
            </a:avLst>
          </a:prstGeom>
          <a:solidFill>
            <a:srgbClr val="14233D"/>
          </a:solidFill>
          <a:ln w="6350">
            <a:solidFill>
              <a:srgbClr val="24385A"/>
            </a:solidFill>
            <a:prstDash val="solid"/>
          </a:ln>
        </p:spPr>
      </p:sp>
      <p:sp>
        <p:nvSpPr>
          <p:cNvPr id="14" name="Text 12"/>
          <p:cNvSpPr/>
          <p:nvPr/>
        </p:nvSpPr>
        <p:spPr>
          <a:xfrm>
            <a:off x="6380480" y="3625850"/>
            <a:ext cx="493415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DD4BF"/>
                </a:solidFill>
                <a:latin typeface="Arial" pitchFamily="34" charset="0"/>
                <a:ea typeface="Arial" pitchFamily="34" charset="-122"/>
                <a:cs typeface="Arial" pitchFamily="34" charset="-120"/>
              </a:rPr>
              <a:t>Benefit to society</a:t>
            </a:r>
            <a:endParaRPr lang="en-US" sz="1800" dirty="0"/>
          </a:p>
        </p:txBody>
      </p:sp>
      <p:sp>
        <p:nvSpPr>
          <p:cNvPr id="15" name="Text 13"/>
          <p:cNvSpPr/>
          <p:nvPr/>
        </p:nvSpPr>
        <p:spPr>
          <a:xfrm>
            <a:off x="6477762" y="3976371"/>
            <a:ext cx="4829251" cy="745490"/>
          </a:xfrm>
          <a:prstGeom prst="rect">
            <a:avLst/>
          </a:prstGeom>
          <a:noFill/>
          <a:ln/>
        </p:spPr>
        <p:txBody>
          <a:bodyPr wrap="square" lIns="0" tIns="0" rIns="0" bIns="0" rtlCol="0" anchor="t">
            <a:normAutofit/>
          </a:bodyPr>
          <a:lstStyle/>
          <a:p>
            <a:pPr algn="l" marL="156718" indent="-156718">
              <a:lnSpc>
                <a:spcPts val="1890"/>
              </a:lnSpc>
              <a:buSzPct val="100000"/>
              <a:buChar char="•"/>
            </a:pPr>
            <a:r>
              <a:rPr lang="en-US" sz="1400" dirty="0">
                <a:solidFill>
                  <a:srgbClr val="F2F6F4"/>
                </a:solidFill>
                <a:latin typeface="Arial" pitchFamily="34" charset="0"/>
                <a:ea typeface="Arial" pitchFamily="34" charset="-122"/>
                <a:cs typeface="Arial" pitchFamily="34" charset="-120"/>
              </a:rPr>
              <a:t>Authorities get photo, place and community votes</a:t>
            </a:r>
            <a:endParaRPr lang="en-US" sz="1400" dirty="0"/>
          </a:p>
          <a:p>
            <a:pPr algn="l" marL="156718" indent="-156718">
              <a:lnSpc>
                <a:spcPts val="1890"/>
              </a:lnSpc>
              <a:buSzPct val="100000"/>
              <a:buChar char="•"/>
            </a:pPr>
            <a:r>
              <a:rPr lang="en-US" sz="1400" dirty="0">
                <a:solidFill>
                  <a:srgbClr val="F2F6F4"/>
                </a:solidFill>
                <a:latin typeface="Arial" pitchFamily="34" charset="0"/>
                <a:ea typeface="Arial" pitchFamily="34" charset="-122"/>
                <a:cs typeface="Arial" pitchFamily="34" charset="-120"/>
              </a:rPr>
              <a:t>Repairs can be prioritised by severity</a:t>
            </a:r>
            <a:endParaRPr lang="en-US" sz="1400" dirty="0"/>
          </a:p>
          <a:p>
            <a:pPr algn="l" marL="156718" indent="-156718">
              <a:lnSpc>
                <a:spcPts val="1890"/>
              </a:lnSpc>
              <a:buSzPct val="100000"/>
              <a:buChar char="•"/>
            </a:pPr>
            <a:r>
              <a:rPr lang="en-US" sz="1400" dirty="0">
                <a:solidFill>
                  <a:srgbClr val="F2F6F4"/>
                </a:solidFill>
                <a:latin typeface="Arial" pitchFamily="34" charset="0"/>
                <a:ea typeface="Arial" pitchFamily="34" charset="-122"/>
                <a:cs typeface="Arial" pitchFamily="34" charset="-120"/>
              </a:rPr>
              <a:t>Drivers make informed choices, not guarantees</a:t>
            </a:r>
            <a:endParaRPr lang="en-US" sz="1400" dirty="0"/>
          </a:p>
        </p:txBody>
      </p:sp>
      <p:sp>
        <p:nvSpPr>
          <p:cNvPr id="16" name="Text 14"/>
          <p:cNvSpPr/>
          <p:nvPr/>
        </p:nvSpPr>
        <p:spPr>
          <a:xfrm>
            <a:off x="812800" y="5107939"/>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5B544"/>
                </a:solidFill>
                <a:latin typeface="Arial" pitchFamily="34" charset="0"/>
                <a:ea typeface="Arial" pitchFamily="34" charset="-122"/>
                <a:cs typeface="Arial" pitchFamily="34" charset="-120"/>
              </a:rPr>
              <a:t>From scattered complaints to prioritised, verified action.</a:t>
            </a:r>
            <a:endParaRPr lang="en-US" sz="1800" dirty="0"/>
          </a:p>
        </p:txBody>
      </p:sp>
      <p:sp>
        <p:nvSpPr>
          <p:cNvPr id="17" name="Text 15"/>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7DC"/>
                </a:solidFill>
                <a:latin typeface="Arial" pitchFamily="34" charset="0"/>
                <a:ea typeface="Arial" pitchFamily="34" charset="-122"/>
                <a:cs typeface="Arial" pitchFamily="34" charset="-120"/>
              </a:rPr>
              <a:t>X_Coder · RoadGuardian</a:t>
            </a:r>
            <a:endParaRPr lang="en-US" sz="1200" dirty="0"/>
          </a:p>
        </p:txBody>
      </p:sp>
      <p:sp>
        <p:nvSpPr>
          <p:cNvPr id="18" name="Text 1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C7DC"/>
                </a:solidFill>
                <a:latin typeface="Arial" pitchFamily="34" charset="0"/>
                <a:ea typeface="Arial" pitchFamily="34" charset="-122"/>
                <a:cs typeface="Arial" pitchFamily="34" charset="-120"/>
              </a:rPr>
              <a:t>6 / 6</a:t>
            </a:r>
            <a:endParaRPr lang="en-US" sz="1200" dirty="0"/>
          </a:p>
        </p:txBody>
      </p:sp>
    </p:spTree>
  </p:cSld>
  <p:clrMapOvr>
    <a:masterClrMapping/>
  </p:clrMapOvr>
</p:sld>
</file>

<file path=ppt/theme/theme1.xml><?xml version="1.0" encoding="utf-8"?>
<a:theme xmlns:a="http://schemas.openxmlformats.org/drawingml/2006/main" name="RoadGuardian – X_Coder (Road Safety)">
  <a:themeElements>
    <a:clrScheme name="RoadGuardian – X_Coder (Road Safety)">
      <a:dk1>
        <a:srgbClr val="0B1424"/>
      </a:dk1>
      <a:lt1>
        <a:srgbClr val="F2F6F4"/>
      </a:lt1>
      <a:dk2>
        <a:srgbClr val="222B39"/>
      </a:dk2>
      <a:lt2>
        <a:srgbClr val="B8BEC0"/>
      </a:lt2>
      <a:accent1>
        <a:srgbClr val="2DD4BF"/>
      </a:accent1>
      <a:accent2>
        <a:srgbClr val="0F766E"/>
      </a:accent2>
      <a:accent3>
        <a:srgbClr val="14233D"/>
      </a:accent3>
      <a:accent4>
        <a:srgbClr val="F5B544"/>
      </a:accent4>
      <a:accent5>
        <a:srgbClr val="46566A"/>
      </a:accent5>
      <a:accent6>
        <a:srgbClr val="B8C7DC"/>
      </a:accent6>
      <a:hlink>
        <a:srgbClr val="0563C1"/>
      </a:hlink>
      <a:folHlink>
        <a:srgbClr val="954F72"/>
      </a:folHlink>
    </a:clrScheme>
    <a:fontScheme name="RoadGuardian – X_Coder (Road Safe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RoadGuardian – X_Coder (Road Safety)</dc:title>
  <dc:subject/>
  <dc:creator/>
  <cp:lastModifiedBy/>
  <cp:revision>1</cp:revision>
  <dcterms:created xsi:type="dcterms:W3CDTF">2026-10-10T11:14:56Z</dcterms:created>
  <dcterms:modified xsi:type="dcterms:W3CDTF">2026-10-10T11:14:56Z</dcterms:modified>
</cp:coreProperties>
</file>